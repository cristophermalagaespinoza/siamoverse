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UCV_2018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4754880" cy="7707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5120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1850"/>
                </a:solidFill>
                <a:latin typeface="Aptos"/>
              </a:rPr>
              <a:t>Sistema Inteligente de Asistencia a la Movilidad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ptos"/>
              </a:rPr>
              <a:t>para personas con ceguera o baja visión severa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60012"/>
                </a:solidFill>
                <a:latin typeface="Aptos"/>
              </a:rPr>
              <a:t>Manual
de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4687"/>
                </a:solidFill>
                <a:latin typeface="Aptos"/>
              </a:rPr>
              <a:t>SIAMoverse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01850"/>
                </a:solidFill>
                <a:latin typeface="Aptos"/>
              </a:rPr>
              <a:t>Aplicativo Flutter MVP + dispositivo pectoral inteligente</a:t>
            </a:r>
          </a:p>
        </p:txBody>
      </p:sp>
      <p:pic>
        <p:nvPicPr>
          <p:cNvPr id="8" name="Picture 7" descr="SIAMo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54864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Universidad César Vallejo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7315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Índice_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5544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Requerimientos e instalación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2140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Inicio y acceso al aplicativo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21408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688336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Menú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88336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25526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Configuración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255263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22191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Registro de eventos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822191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3891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01850"/>
                </a:solidFill>
                <a:latin typeface="Aptos"/>
              </a:rPr>
              <a:t>Emergencia 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38912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0012"/>
                </a:solidFill>
                <a:latin typeface="Aptos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440680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tos"/>
              </a:rPr>
              <a:t>SIAMoverse fue elaborado por: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7424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1850"/>
                </a:solidFill>
                <a:latin typeface="Aptos"/>
              </a:rPr>
              <a:t>Cristopher Málaga Espinoza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608076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Creador y desarrollador del prototipo</a:t>
            </a:r>
          </a:p>
        </p:txBody>
      </p:sp>
      <p:pic>
        <p:nvPicPr>
          <p:cNvPr id="22" name="Picture 21" descr="f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16636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23960" y="53035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1850"/>
                </a:solidFill>
                <a:latin typeface="Aptos"/>
              </a:rPr>
              <a:t>Universidad César Vallejo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6692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ptos"/>
              </a:rPr>
              <a:t>Manual de Usuario - SIAMoverse</a:t>
            </a:r>
          </a:p>
        </p:txBody>
      </p:sp>
      <p:pic>
        <p:nvPicPr>
          <p:cNvPr id="25" name="Picture 24" descr="SIAMover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88720"/>
            <a:ext cx="31089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REQUERIMIENTOS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E INSTALACIÓN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ptos"/>
              </a:rPr>
              <a:t>Estos son los requerimientos mínimos para el uso adecuado del aplicativo SIAMoverse.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3749039"/>
            <a:ext cx="6400800" cy="2468880"/>
          </a:xfrm>
          <a:prstGeom prst="rect">
            <a:avLst/>
          </a:prstGeom>
          <a:solidFill>
            <a:srgbClr val="F5F7FA"/>
          </a:solidFill>
          <a:ln w="1905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SIAMo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554480"/>
            <a:ext cx="3017520" cy="22631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92440" y="457200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1850"/>
                </a:solidFill>
                <a:latin typeface="Aptos"/>
              </a:rPr>
              <a:t>Aplicativo Flutter MVP
con soporte a dispositivo pectoral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640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60012"/>
                </a:solidFill>
                <a:latin typeface="Aptos"/>
              </a:rPr>
              <a:t>Requerimientos del aplicativo: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481051"/>
            <a:ext cx="46634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>
                <a:solidFill>
                  <a:srgbClr val="001850"/>
                </a:solidFill>
                <a:latin typeface="Aptos"/>
              </a:rPr>
              <a:t>Sistema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Operativo</a:t>
            </a:r>
            <a:r>
              <a:rPr sz="1350" dirty="0">
                <a:solidFill>
                  <a:srgbClr val="001850"/>
                </a:solidFill>
                <a:latin typeface="Aptos"/>
              </a:rPr>
              <a:t>: Windows, macOS o Linux.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>
                <a:solidFill>
                  <a:srgbClr val="001850"/>
                </a:solidFill>
                <a:latin typeface="Aptos"/>
              </a:rPr>
              <a:t>Visual Studio Code o Android Studio.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>
                <a:solidFill>
                  <a:srgbClr val="001850"/>
                </a:solidFill>
                <a:latin typeface="Aptos"/>
              </a:rPr>
              <a:t>Flutter SDK y Dart SDK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configurados</a:t>
            </a:r>
            <a:r>
              <a:rPr sz="1350" dirty="0">
                <a:solidFill>
                  <a:srgbClr val="001850"/>
                </a:solidFill>
                <a:latin typeface="Aptos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 err="1">
                <a:solidFill>
                  <a:srgbClr val="001850"/>
                </a:solidFill>
                <a:latin typeface="Aptos"/>
              </a:rPr>
              <a:t>Navegador</a:t>
            </a:r>
            <a:r>
              <a:rPr sz="1350" dirty="0">
                <a:solidFill>
                  <a:srgbClr val="001850"/>
                </a:solidFill>
                <a:latin typeface="Aptos"/>
              </a:rPr>
              <a:t> compatible: Google Chrome, Mozilla Firefox o Microsoft Edge.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 err="1">
                <a:solidFill>
                  <a:srgbClr val="001850"/>
                </a:solidFill>
                <a:latin typeface="Aptos"/>
              </a:rPr>
              <a:t>Procesador</a:t>
            </a:r>
            <a:r>
              <a:rPr sz="1350" dirty="0">
                <a:solidFill>
                  <a:srgbClr val="001850"/>
                </a:solidFill>
                <a:latin typeface="Aptos"/>
              </a:rPr>
              <a:t> Intel Core i3 o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equivalente</a:t>
            </a:r>
            <a:r>
              <a:rPr sz="1350" dirty="0">
                <a:solidFill>
                  <a:srgbClr val="001850"/>
                </a:solidFill>
                <a:latin typeface="Aptos"/>
              </a:rPr>
              <a:t>, 4 GB de RAM o superior y 1 GB de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espacio</a:t>
            </a:r>
            <a:r>
              <a:rPr sz="1350" dirty="0">
                <a:solidFill>
                  <a:srgbClr val="001850"/>
                </a:solidFill>
                <a:latin typeface="Aptos"/>
              </a:rPr>
              <a:t> libre.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dirty="0" err="1">
                <a:solidFill>
                  <a:srgbClr val="001850"/>
                </a:solidFill>
                <a:latin typeface="Aptos"/>
              </a:rPr>
              <a:t>Opcional</a:t>
            </a:r>
            <a:r>
              <a:rPr sz="1350" dirty="0">
                <a:solidFill>
                  <a:srgbClr val="001850"/>
                </a:solidFill>
                <a:latin typeface="Aptos"/>
              </a:rPr>
              <a:t> para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pruebas</a:t>
            </a:r>
            <a:r>
              <a:rPr sz="1350" dirty="0">
                <a:solidFill>
                  <a:srgbClr val="001850"/>
                </a:solidFill>
                <a:latin typeface="Aptos"/>
              </a:rPr>
              <a:t> IoT: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entorno</a:t>
            </a:r>
            <a:r>
              <a:rPr sz="1350" dirty="0">
                <a:solidFill>
                  <a:srgbClr val="001850"/>
                </a:solidFill>
                <a:latin typeface="Aptos"/>
              </a:rPr>
              <a:t>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Wokwi</a:t>
            </a:r>
            <a:r>
              <a:rPr sz="1350" dirty="0">
                <a:solidFill>
                  <a:srgbClr val="001850"/>
                </a:solidFill>
                <a:latin typeface="Aptos"/>
              </a:rPr>
              <a:t> con ESP32 para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simulación</a:t>
            </a:r>
            <a:r>
              <a:rPr sz="1350" dirty="0">
                <a:solidFill>
                  <a:srgbClr val="001850"/>
                </a:solidFill>
                <a:latin typeface="Aptos"/>
              </a:rPr>
              <a:t> de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sensores</a:t>
            </a:r>
            <a:r>
              <a:rPr sz="1350" dirty="0">
                <a:solidFill>
                  <a:srgbClr val="001850"/>
                </a:solidFill>
                <a:latin typeface="Aptos"/>
              </a:rPr>
              <a:t> y </a:t>
            </a:r>
            <a:r>
              <a:rPr sz="1350" dirty="0" err="1">
                <a:solidFill>
                  <a:srgbClr val="001850"/>
                </a:solidFill>
                <a:latin typeface="Aptos"/>
              </a:rPr>
              <a:t>alertas</a:t>
            </a:r>
            <a:r>
              <a:rPr sz="1350" dirty="0">
                <a:solidFill>
                  <a:srgbClr val="001850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4338551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E60012"/>
                </a:solidFill>
                <a:latin typeface="Aptos"/>
              </a:rPr>
              <a:t>Requisitos</a:t>
            </a:r>
            <a:r>
              <a:rPr sz="2000" b="1" dirty="0">
                <a:solidFill>
                  <a:srgbClr val="E60012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E60012"/>
                </a:solidFill>
                <a:latin typeface="Aptos"/>
              </a:rPr>
              <a:t>previos</a:t>
            </a:r>
            <a:r>
              <a:rPr sz="2000" b="1" dirty="0">
                <a:solidFill>
                  <a:srgbClr val="E60012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E60012"/>
                </a:solidFill>
                <a:latin typeface="Aptos"/>
              </a:rPr>
              <a:t>que</a:t>
            </a:r>
            <a:r>
              <a:rPr sz="2000" b="1" dirty="0">
                <a:solidFill>
                  <a:srgbClr val="E60012"/>
                </a:solidFill>
                <a:latin typeface="Aptos"/>
              </a:rPr>
              <a:t> se van a </a:t>
            </a:r>
            <a:r>
              <a:rPr sz="2000" b="1" dirty="0" err="1">
                <a:solidFill>
                  <a:srgbClr val="E60012"/>
                </a:solidFill>
                <a:latin typeface="Aptos"/>
              </a:rPr>
              <a:t>instalar</a:t>
            </a:r>
            <a:r>
              <a:rPr sz="2000" b="1" dirty="0">
                <a:solidFill>
                  <a:srgbClr val="E60012"/>
                </a:solidFill>
                <a:latin typeface="Aptos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507492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>
                <a:solidFill>
                  <a:srgbClr val="001850"/>
                </a:solidFill>
                <a:latin typeface="Aptos"/>
              </a:rPr>
              <a:t>Instalar Flutter SDK.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>
                <a:solidFill>
                  <a:srgbClr val="001850"/>
                </a:solidFill>
                <a:latin typeface="Aptos"/>
              </a:rPr>
              <a:t>Instalar Dart SDK.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>
                <a:solidFill>
                  <a:srgbClr val="001850"/>
                </a:solidFill>
                <a:latin typeface="Aptos"/>
              </a:rPr>
              <a:t>Configurar variable PATH.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>
                <a:solidFill>
                  <a:srgbClr val="001850"/>
                </a:solidFill>
                <a:latin typeface="Aptos"/>
              </a:rPr>
              <a:t>Ejecutar flutter doctor para validar el entorno.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51560"/>
            <a:ext cx="452628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4173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60012"/>
                </a:solidFill>
                <a:latin typeface="Aptos"/>
              </a:rPr>
              <a:t>Pasos para instalación: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06908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1. Abrir el proyecto SIAMoverse en Visual Studio Code.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2. Ejecutar en terminal: flutter pub get.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3. Verificar dispositivos disponibles: flutter devices.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4. Ejecutar en navegador: flutter run -d chrome.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5. Abrir la ruta local generada, por ejemplo: localhost:63078.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30">
                <a:solidFill>
                  <a:srgbClr val="001850"/>
                </a:solidFill>
                <a:latin typeface="Aptos"/>
              </a:rPr>
              <a:t>6. Validar que se muestre la pantalla principal SIAMoverse.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INICIO Y ACCESO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AL APLICATIVO_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ptos"/>
              </a:rPr>
              <a:t>Ingreso al aplicativo Flutter MVP y verificación de la pantalla principal.</a:t>
            </a:r>
          </a:p>
        </p:txBody>
      </p:sp>
      <p:pic>
        <p:nvPicPr>
          <p:cNvPr id="40" name="Picture 39" descr="SIAMo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25880"/>
            <a:ext cx="3749039" cy="2811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6</a:t>
            </a:r>
          </a:p>
        </p:txBody>
      </p:sp>
      <p:pic>
        <p:nvPicPr>
          <p:cNvPr id="6" name="Picture 5" descr="Modulo_Estad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40" y="777240"/>
            <a:ext cx="81381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89099" y="749808"/>
            <a:ext cx="8138160" cy="4572000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47088" y="12801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001850"/>
                </a:solidFill>
                <a:latin typeface="Aptos"/>
              </a:rPr>
              <a:t>Ejecute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el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aplicativo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verifique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que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se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muestre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SIAMoverse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en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el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01850"/>
                </a:solidFill>
                <a:latin typeface="Aptos"/>
              </a:rPr>
              <a:t>navegador</a:t>
            </a:r>
            <a:r>
              <a:rPr sz="1400" b="0" dirty="0">
                <a:solidFill>
                  <a:srgbClr val="001850"/>
                </a:solidFill>
                <a:latin typeface="Aptos"/>
              </a:rPr>
              <a:t> local.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017520" y="1143000"/>
            <a:ext cx="914400" cy="96012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0" y="5532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ptos"/>
              </a:rPr>
              <a:t>La ruta local puede variar según la ejecución de Flutter.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7</a:t>
            </a:r>
          </a:p>
        </p:txBody>
      </p:sp>
      <p:pic>
        <p:nvPicPr>
          <p:cNvPr id="6" name="Picture 5" descr="Modulo_Estad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1" y="822960"/>
            <a:ext cx="81381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16036" y="822960"/>
            <a:ext cx="8138160" cy="4572000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182880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Haga clic en Conectar dispositivo para iniciar el modo demostración del sistema.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429000" y="2487168"/>
            <a:ext cx="3749040" cy="347472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519" y="3749039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Verifique el estado general: Seguro, clase detectada y distancias frontal/inferior.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383280" y="3364992"/>
            <a:ext cx="1097280" cy="1024128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MENÚ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PRINCIPAL_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ptos"/>
              </a:rPr>
              <a:t>Pantalla principal de estado y módulos de navegación del aplicativo.</a:t>
            </a:r>
          </a:p>
        </p:txBody>
      </p:sp>
      <p:pic>
        <p:nvPicPr>
          <p:cNvPr id="40" name="Picture 39" descr="Modulo_Estado_Dispositivo_Conec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97280"/>
            <a:ext cx="5394960" cy="3033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9</a:t>
            </a:r>
          </a:p>
        </p:txBody>
      </p:sp>
      <p:pic>
        <p:nvPicPr>
          <p:cNvPr id="6" name="Picture 5" descr="Modulo_Estado_Dispositivo_Conec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668482"/>
            <a:ext cx="81381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45378" y="682198"/>
            <a:ext cx="8138160" cy="4572000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Este es el panel principal de estado del dispositivo conectado en modo demostración.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291840" y="1600200"/>
            <a:ext cx="685799" cy="36576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384048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Revise batería, energía, GPS y hora de actualización del sistema.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4434840"/>
            <a:ext cx="960120" cy="4572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Modulo_Estado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77240"/>
            <a:ext cx="813816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2098" y="777240"/>
            <a:ext cx="8138160" cy="4572000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Use el control de batería simulada para representar niveles de autonomía.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429000" y="1965960"/>
            <a:ext cx="3068782" cy="1677785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3886200"/>
            <a:ext cx="1920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Seleccione el modo energético: batería, USB-C principal, solar auxiliar o modo ahorro.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91840" y="4617720"/>
            <a:ext cx="809105" cy="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CONFIGURACIÓN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DEL SISTEMA_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4348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5A5A5A"/>
                </a:solidFill>
                <a:latin typeface="Aptos"/>
              </a:rPr>
              <a:t>Ajustes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básicos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del MVP: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contacto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emergencia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respuesta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accesible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nube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5A5A5A"/>
                </a:solidFill>
                <a:latin typeface="Aptos"/>
              </a:rPr>
              <a:t>apoyo</a:t>
            </a:r>
            <a:r>
              <a:rPr sz="1600" b="0" dirty="0">
                <a:solidFill>
                  <a:srgbClr val="5A5A5A"/>
                </a:solidFill>
                <a:latin typeface="Aptos"/>
              </a:rPr>
              <a:t>.</a:t>
            </a:r>
          </a:p>
        </p:txBody>
      </p:sp>
      <p:pic>
        <p:nvPicPr>
          <p:cNvPr id="40" name="Picture 39" descr="Modulo_Configu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97280"/>
            <a:ext cx="5760720" cy="3238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Modulo_Configu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6" y="749808"/>
            <a:ext cx="7863843" cy="47274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31918" y="792757"/>
            <a:ext cx="7920645" cy="4727448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Ingrese el nombre y teléfono del contacto de emergencia.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154680" y="1691640"/>
            <a:ext cx="1874519" cy="114300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214884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Presione Guardar contacto para actualizar el dato de emergencia.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91840" y="2743200"/>
            <a:ext cx="2514597" cy="68580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4251960"/>
            <a:ext cx="18745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Active audio y vibración háptica según el entorno del usuario.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 flipV="1">
            <a:off x="3337560" y="4434840"/>
            <a:ext cx="7649095" cy="36576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0" y="574243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Aptos"/>
              </a:rPr>
              <a:t>La nube funciona como apoyo; la decisión crítica se mantiene local.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REGISTRO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DE EVENTOS_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ptos"/>
              </a:rPr>
              <a:t>Historial de sucesos, alertas, cambios de configuración y emergencias del sistema.</a:t>
            </a:r>
          </a:p>
        </p:txBody>
      </p:sp>
      <p:pic>
        <p:nvPicPr>
          <p:cNvPr id="40" name="Picture 39" descr="Modulo_Ev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623" y="1280160"/>
            <a:ext cx="5577840" cy="3136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Modulo_Ev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667512"/>
            <a:ext cx="8321040" cy="4681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9080" y="592420"/>
            <a:ext cx="8321040" cy="4681728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Revise cada evento registrado por código, fecha, hora y nivel de riesgo.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V="1">
            <a:off x="3154680" y="1804970"/>
            <a:ext cx="1051560" cy="69549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3977639"/>
            <a:ext cx="2011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El historial incluye contacto actualizado, SOS activado/desactivado, batería, energía y GPS.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3246120" y="3917233"/>
            <a:ext cx="1005840" cy="700487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Modulo_Evento_Ries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685800"/>
            <a:ext cx="8321040" cy="4681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8293" y="699516"/>
            <a:ext cx="8321040" cy="4681728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51560"/>
            <a:ext cx="18745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Cuando se detecta escalera o desnivel, el sistema clasifica el evento como riesgo alto.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154680" y="1828800"/>
            <a:ext cx="640080" cy="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3977639"/>
            <a:ext cx="1965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Revise la acción recomendada: Detenerse ante riesgo alto detectado.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3246120" y="3657600"/>
            <a:ext cx="548640" cy="91440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0" y="55778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ptos"/>
              </a:rPr>
              <a:t>Este módulo apoya la trazabilidad de alertas críticas.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7451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7451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1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39112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39112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39112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39112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39112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03703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3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03703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03703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03703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68296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368296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68296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68296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68296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32887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32887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32887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32887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532887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97479" y="365760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97479" y="530352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697479" y="694944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97479" y="859536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97479" y="1024128"/>
            <a:ext cx="41148" cy="41148"/>
          </a:xfrm>
          <a:prstGeom prst="ellipse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874519" y="1572768"/>
            <a:ext cx="6858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0" y="178308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1850"/>
                </a:solidFill>
                <a:latin typeface="Aptos"/>
              </a:rPr>
              <a:t>EMERGENCIA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23317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60012"/>
                </a:solidFill>
                <a:latin typeface="Aptos"/>
              </a:rPr>
              <a:t>SOS_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2971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ptos"/>
              </a:rPr>
              <a:t>Validación del protocolo SOS, contacto de emergencia y ubicación GPS.</a:t>
            </a:r>
          </a:p>
        </p:txBody>
      </p:sp>
      <p:pic>
        <p:nvPicPr>
          <p:cNvPr id="40" name="Picture 39" descr="Modulo_Alerta_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27" y="1188720"/>
            <a:ext cx="5669280" cy="31874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17</a:t>
            </a:r>
          </a:p>
        </p:txBody>
      </p:sp>
      <p:pic>
        <p:nvPicPr>
          <p:cNvPr id="6" name="Picture 5" descr="Modulo_Alerta_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685800"/>
            <a:ext cx="8321040" cy="4681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46170" y="658368"/>
            <a:ext cx="8321040" cy="4681728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05840"/>
            <a:ext cx="18745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Al activar SOS se genera alerta local y se registra el evento.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154680" y="1645920"/>
            <a:ext cx="777239" cy="722376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283464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Verifique el contacto de emergencia configurado.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474720"/>
            <a:ext cx="1143000" cy="13716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4663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Use el enlace de Google Maps para ubicar al usuario mediante GPS.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83280" y="4800600"/>
            <a:ext cx="1188720" cy="91440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00200" cy="6858000"/>
          </a:xfrm>
          <a:prstGeom prst="rect">
            <a:avLst/>
          </a:prstGeom>
          <a:solidFill>
            <a:srgbClr val="010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cv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029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5480" y="65653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001850"/>
                </a:solidFill>
                <a:latin typeface="Aptos"/>
              </a:rPr>
              <a:t>Manual de Usuario - SIAMoverse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66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4687"/>
                </a:solidFill>
                <a:latin typeface="Aptos"/>
              </a:rPr>
              <a:t>18</a:t>
            </a:r>
          </a:p>
        </p:txBody>
      </p:sp>
      <p:pic>
        <p:nvPicPr>
          <p:cNvPr id="6" name="Picture 5" descr="Modulo_Alerta_SOS_Desactiv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685800"/>
            <a:ext cx="8321040" cy="4681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22716" y="699516"/>
            <a:ext cx="8321040" cy="4681728"/>
          </a:xfrm>
          <a:prstGeom prst="rect">
            <a:avLst/>
          </a:prstGeom>
          <a:noFill/>
          <a:ln w="1524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143000"/>
            <a:ext cx="18745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Presione Cerrar emergencia para finalizar el estado crítico.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154680" y="1874519"/>
            <a:ext cx="2248593" cy="822961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4160520"/>
            <a:ext cx="1965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1850"/>
                </a:solidFill>
                <a:latin typeface="Aptos"/>
              </a:rPr>
              <a:t>Después del cierre, el evento queda disponible para revisión en el módulo Eventos.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46120" y="4754880"/>
            <a:ext cx="6309360" cy="333756"/>
          </a:xfrm>
          <a:prstGeom prst="line">
            <a:avLst/>
          </a:prstGeom>
          <a:ln w="15240">
            <a:solidFill>
              <a:srgbClr val="E600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56692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Aptos"/>
              </a:rPr>
              <a:t>El ciclo SOS incluye activación, registro, ubicación, contacto y cierre.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756</Words>
  <Application>Microsoft Office PowerPoint</Application>
  <PresentationFormat>Panorámica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Cristopher Norman MALAGA ESPINOZA</dc:creator>
  <cp:keywords/>
  <dc:description>generated using python-pptx</dc:description>
  <cp:lastModifiedBy>Cristopher Norman MALAGA ESPINOZA</cp:lastModifiedBy>
  <cp:revision>2</cp:revision>
  <dcterms:created xsi:type="dcterms:W3CDTF">2013-01-27T09:14:16Z</dcterms:created>
  <dcterms:modified xsi:type="dcterms:W3CDTF">2026-06-13T12:55:04Z</dcterms:modified>
  <cp:category/>
</cp:coreProperties>
</file>