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672" r:id="rId3"/>
    <p:sldId id="709" r:id="rId4"/>
    <p:sldId id="710" r:id="rId5"/>
    <p:sldId id="730" r:id="rId6"/>
    <p:sldId id="737" r:id="rId7"/>
    <p:sldId id="682" r:id="rId8"/>
    <p:sldId id="680" r:id="rId9"/>
    <p:sldId id="733" r:id="rId10"/>
    <p:sldId id="736" r:id="rId11"/>
    <p:sldId id="734" r:id="rId12"/>
    <p:sldId id="739" r:id="rId13"/>
    <p:sldId id="741" r:id="rId14"/>
    <p:sldId id="757" r:id="rId16"/>
    <p:sldId id="740" r:id="rId17"/>
    <p:sldId id="744" r:id="rId18"/>
    <p:sldId id="758" r:id="rId19"/>
    <p:sldId id="745" r:id="rId20"/>
    <p:sldId id="752" r:id="rId21"/>
    <p:sldId id="753" r:id="rId22"/>
    <p:sldId id="754" r:id="rId23"/>
    <p:sldId id="755" r:id="rId24"/>
    <p:sldId id="756" r:id="rId25"/>
    <p:sldId id="751" r:id="rId26"/>
    <p:sldId id="750" r:id="rId2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5A"/>
    <a:srgbClr val="F21818"/>
    <a:srgbClr val="0033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5" autoAdjust="0"/>
    <p:restoredTop sz="91160" autoAdjust="0"/>
  </p:normalViewPr>
  <p:slideViewPr>
    <p:cSldViewPr snapToGrid="0">
      <p:cViewPr varScale="1">
        <p:scale>
          <a:sx n="104" d="100"/>
          <a:sy n="104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08A3-3CCC-49E6-964C-E1738A6D992D}" type="datetimeFigureOut">
              <a:rPr lang="es-ES" smtClean="0"/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2CB49-322C-48BB-A333-B208C96D6BAF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B153-3F4C-4DD3-8230-4B83BA64BC74}" type="datetimeFigureOut">
              <a:rPr lang="es-PE" smtClean="0"/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2064-890A-4B81-BA38-F1C848B1D58A}" type="slidenum">
              <a:rPr lang="es-PE" smtClean="0"/>
            </a:fld>
            <a:endParaRPr lang="es-PE"/>
          </a:p>
        </p:txBody>
      </p:sp>
      <p:pic>
        <p:nvPicPr>
          <p:cNvPr id="5" name="Imagen 18" descr="Imagen 18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61074" y="289741"/>
            <a:ext cx="1200849" cy="8568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Imagen 5"/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04" y="373816"/>
            <a:ext cx="1107888" cy="6887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">
    <p:bg>
      <p:bgPr>
        <a:solidFill>
          <a:srgbClr val="00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18" descr="Imagen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074" y="289741"/>
            <a:ext cx="1200849" cy="8568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04" y="373816"/>
            <a:ext cx="1107888" cy="6887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067" y="2787379"/>
            <a:ext cx="3604683" cy="12033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357-2716-452B-995D-6031D1FF4CDC}" type="datetimeFigureOut">
              <a:rPr lang="es-PE" smtClean="0"/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447B6-93C9-4FF0-9552-5BA53483519F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357-2716-452B-995D-6031D1FF4CDC}" type="datetimeFigureOut">
              <a:rPr lang="es-PE" smtClean="0"/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447B6-93C9-4FF0-9552-5BA53483519F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B153-3F4C-4DD3-8230-4B83BA64BC74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F2064-890A-4B81-BA38-F1C848B1D58A}" type="slidenum">
              <a:rPr lang="es-PE" smtClean="0"/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5.jpeg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1"/>
          <p:cNvSpPr txBox="1"/>
          <p:nvPr/>
        </p:nvSpPr>
        <p:spPr>
          <a:xfrm>
            <a:off x="514985" y="2115185"/>
            <a:ext cx="4784090" cy="29546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s-ES" sz="3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PROPIEDAD INTELECTUAL DESARROLLADA EN UNIVERSIDADES Y SU GESTI</a:t>
            </a:r>
            <a:r>
              <a:rPr lang="en-US" altLang="en-US" sz="3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s-ES" sz="3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altLang="es-ES" sz="3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6442710" y="2421890"/>
            <a:ext cx="5212080" cy="2784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514350" indent="-51435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s-ES" altLang="es-MX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PROPIEDAD INTELECTUAL Y SU IMPORTANCIA</a:t>
            </a:r>
            <a:endParaRPr lang="es-MX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lang="es-E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PROPIEDAD INTELECTUAL - INVENCIONES</a:t>
            </a:r>
            <a:endParaRPr lang="es-E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lang="es-E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IDENTIFICACIÓN DE INVENTOS EN ACTIVIDADES FRECUENTES</a:t>
            </a:r>
            <a:endParaRPr lang="es-E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lang="es-E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PREGUNTAS</a:t>
            </a:r>
            <a:endParaRPr lang="es-E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766651" y="903071"/>
            <a:ext cx="440355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ES" altLang="es-MX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  <a:endParaRPr lang="es-ES" altLang="es-MX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61415" y="2280920"/>
            <a:ext cx="9681210" cy="2395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s-E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PROPIEDAD INTELECTUAL Y SU IMPORTANCIA</a:t>
            </a:r>
            <a:endParaRPr lang="es-ES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sp>
        <p:nvSpPr>
          <p:cNvPr id="7" name="CuadroTexto 1"/>
          <p:cNvSpPr txBox="1"/>
          <p:nvPr/>
        </p:nvSpPr>
        <p:spPr>
          <a:xfrm>
            <a:off x="1881809" y="354139"/>
            <a:ext cx="85994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s-ES" sz="3600" b="1" dirty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</a:rPr>
              <a:t>PROPIEDAD INTELECTUAL</a:t>
            </a:r>
            <a:endParaRPr lang="en-US" altLang="es-ES" sz="3600" b="1" dirty="0">
              <a:solidFill>
                <a:srgbClr val="00206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1 CuadroTexto"/>
          <p:cNvSpPr txBox="1">
            <a:spLocks noChangeArrowheads="1"/>
          </p:cNvSpPr>
          <p:nvPr/>
        </p:nvSpPr>
        <p:spPr bwMode="auto">
          <a:xfrm>
            <a:off x="1188085" y="2332355"/>
            <a:ext cx="462216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defRPr/>
            </a:pPr>
            <a:r>
              <a:rPr lang="en-US" altLang="es-ES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Creaciones de la mente (intelecto humano): invenciones, obras literarias y art</a:t>
            </a:r>
            <a:r>
              <a:rPr lang="en-US" altLang="en-US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í</a:t>
            </a:r>
            <a:r>
              <a:rPr lang="en-US" altLang="es-ES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sticas, as</a:t>
            </a:r>
            <a:r>
              <a:rPr lang="en-US" altLang="en-US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í</a:t>
            </a:r>
            <a:r>
              <a:rPr lang="en-US" altLang="es-ES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como s</a:t>
            </a:r>
            <a:r>
              <a:rPr lang="en-US" altLang="en-US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í</a:t>
            </a:r>
            <a:r>
              <a:rPr lang="en-US" altLang="es-ES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mbolos, nombres e im</a:t>
            </a:r>
            <a:r>
              <a:rPr lang="en-US" altLang="en-US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á</a:t>
            </a:r>
            <a:r>
              <a:rPr lang="en-US" altLang="es-ES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genes utilizadas en el comercio</a:t>
            </a:r>
            <a:endParaRPr lang="en-US" altLang="es-ES" sz="24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defRPr/>
            </a:pPr>
            <a:endParaRPr lang="en-US" altLang="es-ES" sz="24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http://definicion.mx/wp-content/uploads/2014/06/intelect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133" y="1791417"/>
            <a:ext cx="3077765" cy="3758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sp>
        <p:nvSpPr>
          <p:cNvPr id="7" name="CuadroTexto 1"/>
          <p:cNvSpPr txBox="1"/>
          <p:nvPr/>
        </p:nvSpPr>
        <p:spPr>
          <a:xfrm>
            <a:off x="1881809" y="354139"/>
            <a:ext cx="859949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s-ES" sz="3600" b="1" dirty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</a:rPr>
              <a:t>IMPORTANCIA DE LA PROPIEDAD INTELECTUAL</a:t>
            </a:r>
            <a:endParaRPr lang="en-US" altLang="es-ES" sz="3600" b="1" dirty="0">
              <a:solidFill>
                <a:srgbClr val="00206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uadroTexto 1"/>
          <p:cNvSpPr txBox="1"/>
          <p:nvPr/>
        </p:nvSpPr>
        <p:spPr>
          <a:xfrm>
            <a:off x="2675202" y="2150663"/>
            <a:ext cx="6910175" cy="5835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s-PE" sz="3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EXCLUSIVIDAD</a:t>
            </a:r>
            <a:endParaRPr lang="es-PE" sz="3200" b="1" dirty="0">
              <a:solidFill>
                <a:schemeClr val="accent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Flecha abajo 2"/>
          <p:cNvSpPr/>
          <p:nvPr/>
        </p:nvSpPr>
        <p:spPr>
          <a:xfrm>
            <a:off x="3654267" y="3481971"/>
            <a:ext cx="717363" cy="1347436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PE" sz="18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" name="2 CuadroTexto"/>
          <p:cNvSpPr txBox="1">
            <a:spLocks noChangeArrowheads="1"/>
          </p:cNvSpPr>
          <p:nvPr/>
        </p:nvSpPr>
        <p:spPr bwMode="auto">
          <a:xfrm>
            <a:off x="2275614" y="5130873"/>
            <a:ext cx="3474669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PE" altLang="es-PE" sz="20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</a:rPr>
              <a:t>Derecho de uso o "monopolio” temporal de la invención</a:t>
            </a:r>
            <a:endParaRPr lang="es-PE" altLang="es-PE" sz="2000" dirty="0">
              <a:solidFill>
                <a:schemeClr val="accent1">
                  <a:lumMod val="50000"/>
                </a:schemeClr>
              </a:solidFill>
              <a:cs typeface="Calibri" panose="020F0502020204030204" charset="0"/>
            </a:endParaRPr>
          </a:p>
        </p:txBody>
      </p:sp>
      <p:sp>
        <p:nvSpPr>
          <p:cNvPr id="9" name="Flecha abajo 5"/>
          <p:cNvSpPr/>
          <p:nvPr/>
        </p:nvSpPr>
        <p:spPr>
          <a:xfrm rot="10800000">
            <a:off x="7901043" y="3549661"/>
            <a:ext cx="717363" cy="1347436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PE" sz="18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2 CuadroTexto"/>
          <p:cNvSpPr txBox="1">
            <a:spLocks noChangeArrowheads="1"/>
          </p:cNvSpPr>
          <p:nvPr/>
        </p:nvSpPr>
        <p:spPr bwMode="auto">
          <a:xfrm>
            <a:off x="6934294" y="5130873"/>
            <a:ext cx="2650860" cy="70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PE" altLang="es-PE" sz="20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</a:rPr>
              <a:t>Es el medio para lograr un propósito mayor </a:t>
            </a:r>
            <a:endParaRPr lang="es-PE" altLang="es-PE" sz="2000" dirty="0">
              <a:solidFill>
                <a:schemeClr val="accent1">
                  <a:lumMod val="50000"/>
                </a:schemeClr>
              </a:solidFill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6" grpId="0"/>
      <p:bldP spid="9" grpId="0" bldLvl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sp>
        <p:nvSpPr>
          <p:cNvPr id="7" name="CuadroTexto 1"/>
          <p:cNvSpPr txBox="1"/>
          <p:nvPr/>
        </p:nvSpPr>
        <p:spPr>
          <a:xfrm>
            <a:off x="1881809" y="354139"/>
            <a:ext cx="859949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s-ES" sz="3600" b="1" dirty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</a:rPr>
              <a:t>IMPORTANCIA DE LA PROPIEDAD INTELECTUAL</a:t>
            </a:r>
            <a:endParaRPr lang="en-US" altLang="es-ES" sz="3600" b="1" dirty="0">
              <a:solidFill>
                <a:srgbClr val="00206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uadroTexto 1"/>
          <p:cNvSpPr txBox="1"/>
          <p:nvPr/>
        </p:nvSpPr>
        <p:spPr>
          <a:xfrm>
            <a:off x="1269365" y="2150745"/>
            <a:ext cx="375031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s-ES" sz="3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GENERACI</a:t>
            </a:r>
            <a:r>
              <a:rPr lang="en-US" altLang="en-US" sz="3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Ó</a:t>
            </a:r>
            <a:r>
              <a:rPr lang="en-US" altLang="es-ES" sz="3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N DE INGRESOS</a:t>
            </a:r>
            <a:endParaRPr lang="en-US" altLang="es-ES" sz="3200" b="1" dirty="0">
              <a:solidFill>
                <a:schemeClr val="accent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7225030" y="2397125"/>
            <a:ext cx="3750310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/>
            </a:pPr>
            <a:r>
              <a:rPr lang="en-US" altLang="es-ES" sz="3200" b="1" dirty="0">
                <a:solidFill>
                  <a:schemeClr val="accent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PRESTIGIO</a:t>
            </a:r>
            <a:endParaRPr lang="en-US" altLang="es-ES" sz="3200" b="1" dirty="0">
              <a:solidFill>
                <a:schemeClr val="accent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098" name="Picture 2" descr="Patentes para aumentar ingresos | 🏆 Intelectual Abogados®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2" r="12549" b="21769"/>
          <a:stretch>
            <a:fillRect/>
          </a:stretch>
        </p:blipFill>
        <p:spPr bwMode="auto">
          <a:xfrm>
            <a:off x="1447022" y="3428750"/>
            <a:ext cx="3572315" cy="2361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13 ideas para construir el prestigio profesional, por Daniel Colomb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8" r="11973"/>
          <a:stretch>
            <a:fillRect/>
          </a:stretch>
        </p:blipFill>
        <p:spPr bwMode="auto">
          <a:xfrm>
            <a:off x="7452780" y="3146145"/>
            <a:ext cx="3028426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61415" y="2280920"/>
            <a:ext cx="9681210" cy="2395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s-E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PROPIEDAD INTELECTUAL - INVENCIONES</a:t>
            </a:r>
            <a:endParaRPr lang="es-ES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grpSp>
        <p:nvGrpSpPr>
          <p:cNvPr id="11" name="Grupo 10"/>
          <p:cNvGrpSpPr/>
          <p:nvPr/>
        </p:nvGrpSpPr>
        <p:grpSpPr>
          <a:xfrm>
            <a:off x="1950720" y="1880870"/>
            <a:ext cx="8291195" cy="4536440"/>
            <a:chOff x="1585518" y="608686"/>
            <a:chExt cx="8725322" cy="4999839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 rotWithShape="1">
            <a:blip r:embed="rId2"/>
            <a:srcRect l="27316" t="19450" r="14817" b="21600"/>
            <a:stretch>
              <a:fillRect/>
            </a:stretch>
          </p:blipFill>
          <p:spPr>
            <a:xfrm>
              <a:off x="1585518" y="608686"/>
              <a:ext cx="8725322" cy="4999839"/>
            </a:xfrm>
            <a:prstGeom prst="rect">
              <a:avLst/>
            </a:prstGeom>
          </p:spPr>
        </p:pic>
        <p:sp>
          <p:nvSpPr>
            <p:cNvPr id="10" name="Rectángulo 9"/>
            <p:cNvSpPr/>
            <p:nvPr/>
          </p:nvSpPr>
          <p:spPr>
            <a:xfrm>
              <a:off x="9060109" y="5080018"/>
              <a:ext cx="1250731" cy="5285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s-PE"/>
            </a:p>
          </p:txBody>
        </p:sp>
      </p:grpSp>
      <p:sp>
        <p:nvSpPr>
          <p:cNvPr id="7" name="CuadroTexto 1"/>
          <p:cNvSpPr txBox="1"/>
          <p:nvPr/>
        </p:nvSpPr>
        <p:spPr>
          <a:xfrm>
            <a:off x="2548890" y="354330"/>
            <a:ext cx="73247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ES" altLang="en-US" sz="3600" b="1" dirty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</a:rPr>
              <a:t>SISTEMA DE</a:t>
            </a:r>
            <a:r>
              <a:rPr lang="en-US" altLang="es-ES" sz="3600" b="1" dirty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</a:rPr>
              <a:t> PROPIEDAD INTELECTUAL</a:t>
            </a:r>
            <a:endParaRPr lang="en-US" altLang="es-ES" sz="3600" b="1" dirty="0">
              <a:solidFill>
                <a:srgbClr val="00206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>
            <a:spLocks noChangeArrowheads="1"/>
          </p:cNvSpPr>
          <p:nvPr/>
        </p:nvSpPr>
        <p:spPr bwMode="auto">
          <a:xfrm>
            <a:off x="2963545" y="443230"/>
            <a:ext cx="59753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s-ES" altLang="es-PE" sz="3600" b="1" dirty="0">
                <a:solidFill>
                  <a:srgbClr val="00285A"/>
                </a:solidFill>
                <a:latin typeface="Calibri" panose="020F0502020204030204" charset="0"/>
                <a:cs typeface="Calibri" panose="020F0502020204030204" charset="0"/>
              </a:rPr>
              <a:t>PATENTES</a:t>
            </a:r>
            <a:endParaRPr lang="es-ES" altLang="es-PE" sz="3600" b="1" dirty="0">
              <a:solidFill>
                <a:srgbClr val="00285A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197" y="1532134"/>
            <a:ext cx="4098368" cy="461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6517555" y="1693619"/>
            <a:ext cx="4316626" cy="2800767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s-PE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Derecho que otorga el Estado a una persona natural (inventor) o jurídica de impedir a terceros que no tengan su consentimiento de la fabricación, ofrecimiento en venta, venta, empleo del procedimiento, etc. de la materia patentada.</a:t>
            </a:r>
            <a:endParaRPr lang="es-PE" sz="2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6517555" y="4700959"/>
            <a:ext cx="4316626" cy="144655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s-PE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Derecho que da protección y exclusividad para el uso de un invento por un tiempo determinado.</a:t>
            </a:r>
            <a:endParaRPr lang="es-PE" sz="2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sp>
        <p:nvSpPr>
          <p:cNvPr id="12" name="Rectangle 9"/>
          <p:cNvSpPr txBox="1">
            <a:spLocks noChangeArrowheads="1"/>
          </p:cNvSpPr>
          <p:nvPr/>
        </p:nvSpPr>
        <p:spPr>
          <a:xfrm>
            <a:off x="3679592" y="468867"/>
            <a:ext cx="4464049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s-ES_tradnl"/>
            </a:defPPr>
            <a:lvl1pPr>
              <a:defRPr sz="2400" b="1">
                <a:solidFill>
                  <a:srgbClr val="C00249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Helvetica" panose="020B0604020202020204" pitchFamily="34" charset="0"/>
              </a:defRPr>
            </a:lvl1pPr>
            <a:lvl2pPr marL="742950" indent="-285750">
              <a:defRPr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s-ES" sz="32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¿QUÉ ES UN INVENTO?</a:t>
            </a:r>
            <a:endParaRPr lang="es-ES" sz="3200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6628" name="Text Box 10"/>
          <p:cNvSpPr txBox="1">
            <a:spLocks noChangeArrowheads="1"/>
          </p:cNvSpPr>
          <p:nvPr/>
        </p:nvSpPr>
        <p:spPr bwMode="auto">
          <a:xfrm>
            <a:off x="1834918" y="1427895"/>
            <a:ext cx="815339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s-PE" altLang="en-US" sz="2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una solución técnica a un problema técnico identificado en cualquier campo de la tecnología o la vida diaria. </a:t>
            </a:r>
            <a:endParaRPr lang="es-PE" altLang="en-US" sz="20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2" descr="Resultado de imagen para celular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4" t="17600" r="4640" b="2800"/>
          <a:stretch>
            <a:fillRect/>
          </a:stretch>
        </p:blipFill>
        <p:spPr bwMode="auto">
          <a:xfrm>
            <a:off x="5664200" y="2510469"/>
            <a:ext cx="5670550" cy="2919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Resultado de imagen para medicin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2465186"/>
            <a:ext cx="4332747" cy="2888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>
            <a:spLocks noChangeArrowheads="1"/>
          </p:cNvSpPr>
          <p:nvPr/>
        </p:nvSpPr>
        <p:spPr bwMode="auto">
          <a:xfrm>
            <a:off x="2941320" y="480695"/>
            <a:ext cx="63087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s-ES" altLang="es-PE" sz="3600" b="1" dirty="0">
                <a:solidFill>
                  <a:srgbClr val="00285A"/>
                </a:solidFill>
                <a:latin typeface="Calibri" panose="020F0502020204030204" charset="0"/>
                <a:cs typeface="Calibri" panose="020F0502020204030204" charset="0"/>
              </a:rPr>
              <a:t>TIPOS DE PATENTES</a:t>
            </a:r>
            <a:endParaRPr lang="es-ES" altLang="es-PE" sz="3600" b="1" dirty="0">
              <a:solidFill>
                <a:srgbClr val="00285A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pic>
        <p:nvPicPr>
          <p:cNvPr id="6146" name="Picture 2" descr="▷ Tipos de PATENTES (2023) - patentes.p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030" y="1907540"/>
            <a:ext cx="6216650" cy="394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>
            <a:spLocks noChangeArrowheads="1"/>
          </p:cNvSpPr>
          <p:nvPr/>
        </p:nvSpPr>
        <p:spPr bwMode="auto">
          <a:xfrm>
            <a:off x="2941320" y="480695"/>
            <a:ext cx="63087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s-ES" altLang="es-PE" sz="3600" b="1" dirty="0">
                <a:solidFill>
                  <a:srgbClr val="00285A"/>
                </a:solidFill>
                <a:latin typeface="Calibri" panose="020F0502020204030204" charset="0"/>
                <a:cs typeface="Calibri" panose="020F0502020204030204" charset="0"/>
              </a:rPr>
              <a:t>PATENTE DE INVENCIÓN</a:t>
            </a:r>
            <a:endParaRPr lang="es-ES" altLang="es-PE" sz="3600" b="1" dirty="0">
              <a:solidFill>
                <a:srgbClr val="00285A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sp>
        <p:nvSpPr>
          <p:cNvPr id="4" name="Marcador de contenido 2"/>
          <p:cNvSpPr txBox="1"/>
          <p:nvPr/>
        </p:nvSpPr>
        <p:spPr>
          <a:xfrm>
            <a:off x="858647" y="2042541"/>
            <a:ext cx="4273296" cy="30843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sz="2600" kern="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Título que se otorga a todo nuevo </a:t>
            </a:r>
            <a:r>
              <a:rPr lang="es-ES" sz="2600" b="1" kern="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producto o procedimiento </a:t>
            </a:r>
            <a:r>
              <a:rPr lang="es-ES" sz="2600" kern="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que soluciona un problema técnico, por el periodo de </a:t>
            </a:r>
            <a:r>
              <a:rPr lang="es-ES" sz="2600" b="1" kern="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20 años, </a:t>
            </a:r>
            <a:r>
              <a:rPr lang="es-ES" sz="2600" kern="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contados desde la fecha de presentación de la solicitud de patente. </a:t>
            </a:r>
            <a:endParaRPr lang="es-ES" sz="2600" kern="0" dirty="0">
              <a:solidFill>
                <a:schemeClr val="accent5">
                  <a:lumMod val="50000"/>
                </a:schemeClr>
              </a:solidFill>
              <a:latin typeface="Gill Sans"/>
            </a:endParaRPr>
          </a:p>
        </p:txBody>
      </p:sp>
      <p:sp>
        <p:nvSpPr>
          <p:cNvPr id="6" name="Marcador de texto 6"/>
          <p:cNvSpPr txBox="1"/>
          <p:nvPr/>
        </p:nvSpPr>
        <p:spPr>
          <a:xfrm>
            <a:off x="6169660" y="1854835"/>
            <a:ext cx="5184775" cy="37045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s-PE" sz="2300" b="1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PRODUCTOS</a:t>
            </a:r>
            <a:endParaRPr lang="en-US" altLang="es-PE" sz="2300" b="1" dirty="0">
              <a:solidFill>
                <a:schemeClr val="accent5">
                  <a:lumMod val="50000"/>
                </a:schemeClr>
              </a:solidFill>
              <a:latin typeface="Gill Sans"/>
            </a:endParaRPr>
          </a:p>
          <a:p>
            <a:pPr marL="0" indent="0" algn="just">
              <a:buNone/>
            </a:pP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Aparatos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,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máquinas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,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equipos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,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mecanismos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,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dispositivos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 u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otros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objetos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,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así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como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cualquiera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 de sus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partes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; y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cualquier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sustancia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,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compuesto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 o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composición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.</a:t>
            </a:r>
            <a:endParaRPr lang="en-US" altLang="es-PE" sz="2300" dirty="0">
              <a:solidFill>
                <a:schemeClr val="accent5">
                  <a:lumMod val="50000"/>
                </a:schemeClr>
              </a:solidFill>
              <a:latin typeface="Gill Sans"/>
            </a:endParaRPr>
          </a:p>
          <a:p>
            <a:pPr>
              <a:spcBef>
                <a:spcPct val="0"/>
              </a:spcBef>
              <a:buClr>
                <a:srgbClr val="660033"/>
              </a:buClr>
            </a:pPr>
            <a:endParaRPr lang="en-US" altLang="es-PE" sz="2300" dirty="0">
              <a:solidFill>
                <a:schemeClr val="accent5">
                  <a:lumMod val="50000"/>
                </a:schemeClr>
              </a:solidFill>
              <a:latin typeface="Gill Sans"/>
            </a:endParaRPr>
          </a:p>
          <a:p>
            <a:pPr marL="0" indent="0">
              <a:spcBef>
                <a:spcPct val="0"/>
              </a:spcBef>
              <a:buClr>
                <a:srgbClr val="660033"/>
              </a:buClr>
              <a:buNone/>
            </a:pPr>
            <a:r>
              <a:rPr lang="en-US" altLang="es-PE" sz="2300" b="1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PROCEDIMIENTOS</a:t>
            </a:r>
            <a:endParaRPr lang="en-US" altLang="es-PE" sz="2300" dirty="0">
              <a:solidFill>
                <a:schemeClr val="accent5">
                  <a:lumMod val="50000"/>
                </a:schemeClr>
              </a:solidFill>
              <a:latin typeface="Gill Sans"/>
            </a:endParaRPr>
          </a:p>
          <a:p>
            <a:pPr marL="0" indent="0" algn="just">
              <a:spcBef>
                <a:spcPct val="0"/>
              </a:spcBef>
              <a:buClr>
                <a:srgbClr val="660033"/>
              </a:buClr>
              <a:buNone/>
            </a:pP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Cualquier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método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,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sistema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 de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producción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, de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elaboración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,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sistemas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 y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procesos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 </a:t>
            </a:r>
            <a:r>
              <a:rPr lang="en-US" altLang="es-PE" sz="2300" dirty="0" err="1">
                <a:solidFill>
                  <a:schemeClr val="accent5">
                    <a:lumMod val="50000"/>
                  </a:schemeClr>
                </a:solidFill>
                <a:latin typeface="Gill Sans"/>
              </a:rPr>
              <a:t>en</a:t>
            </a:r>
            <a:r>
              <a:rPr lang="en-US" altLang="es-PE" sz="2300" dirty="0">
                <a:solidFill>
                  <a:schemeClr val="accent5">
                    <a:lumMod val="50000"/>
                  </a:schemeClr>
                </a:solidFill>
                <a:latin typeface="Gill Sans"/>
              </a:rPr>
              <a:t> general.</a:t>
            </a:r>
            <a:endParaRPr lang="en-US" altLang="es-PE" sz="2300" dirty="0">
              <a:solidFill>
                <a:schemeClr val="accent5">
                  <a:lumMod val="50000"/>
                </a:schemeClr>
              </a:solidFill>
              <a:latin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/>
          <p:cNvSpPr/>
          <p:nvPr/>
        </p:nvSpPr>
        <p:spPr>
          <a:xfrm>
            <a:off x="2973943" y="5085692"/>
            <a:ext cx="7445772" cy="883250"/>
          </a:xfrm>
          <a:prstGeom prst="rect">
            <a:avLst/>
          </a:prstGeom>
          <a:gradFill flip="none" rotWithShape="1">
            <a:gsLst>
              <a:gs pos="0">
                <a:srgbClr val="C0C0C0">
                  <a:tint val="66000"/>
                  <a:satMod val="160000"/>
                </a:srgbClr>
              </a:gs>
              <a:gs pos="50000">
                <a:srgbClr val="C0C0C0">
                  <a:tint val="44500"/>
                  <a:satMod val="160000"/>
                </a:srgbClr>
              </a:gs>
              <a:gs pos="100000">
                <a:srgbClr val="C0C0C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ángulo 14"/>
          <p:cNvSpPr/>
          <p:nvPr/>
        </p:nvSpPr>
        <p:spPr>
          <a:xfrm>
            <a:off x="2473485" y="3576324"/>
            <a:ext cx="7946231" cy="1330322"/>
          </a:xfrm>
          <a:prstGeom prst="rect">
            <a:avLst/>
          </a:prstGeom>
          <a:gradFill flip="none" rotWithShape="1">
            <a:gsLst>
              <a:gs pos="0">
                <a:srgbClr val="EFB53A">
                  <a:tint val="66000"/>
                  <a:satMod val="160000"/>
                </a:srgbClr>
              </a:gs>
              <a:gs pos="50000">
                <a:srgbClr val="EFB53A">
                  <a:tint val="44500"/>
                  <a:satMod val="160000"/>
                </a:srgbClr>
              </a:gs>
              <a:gs pos="100000">
                <a:srgbClr val="EFB53A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 3"/>
          <p:cNvSpPr/>
          <p:nvPr/>
        </p:nvSpPr>
        <p:spPr>
          <a:xfrm>
            <a:off x="1956753" y="2382521"/>
            <a:ext cx="8462962" cy="995657"/>
          </a:xfrm>
          <a:prstGeom prst="rect">
            <a:avLst/>
          </a:prstGeom>
          <a:gradFill flip="none" rotWithShape="1">
            <a:gsLst>
              <a:gs pos="0">
                <a:srgbClr val="C00249">
                  <a:tint val="66000"/>
                  <a:satMod val="160000"/>
                </a:srgbClr>
              </a:gs>
              <a:gs pos="50000">
                <a:srgbClr val="C00249">
                  <a:tint val="44500"/>
                  <a:satMod val="160000"/>
                </a:srgbClr>
              </a:gs>
              <a:gs pos="100000">
                <a:srgbClr val="C00249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Rectangle 7"/>
          <p:cNvSpPr txBox="1">
            <a:spLocks noChangeArrowheads="1"/>
          </p:cNvSpPr>
          <p:nvPr/>
        </p:nvSpPr>
        <p:spPr bwMode="auto">
          <a:xfrm>
            <a:off x="1582468" y="1609248"/>
            <a:ext cx="8815255" cy="4707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Times New Roman" panose="02020603050405020304" pitchFamily="18" charset="0"/>
              <a:buNone/>
              <a:defRPr/>
            </a:pPr>
            <a:r>
              <a:rPr lang="es-ES" sz="1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	Protegen inventos (</a:t>
            </a:r>
            <a:r>
              <a:rPr lang="es-ES" sz="1800" b="1" u="sng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productos o procesos</a:t>
            </a:r>
            <a:r>
              <a:rPr lang="es-ES" sz="1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) siempre que cumplan con tres requisitos:</a:t>
            </a:r>
            <a:endParaRPr lang="es-ES" sz="1800" b="1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1956754" y="2412683"/>
            <a:ext cx="4568825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s-PE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NOVEDAD (Nuevo):</a:t>
            </a:r>
            <a:r>
              <a:rPr lang="es-PE" sz="16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que no hayan sido divulgados de ninguna forma (ni por descripción escrita, oral, uso, comercialización u otro medio)</a:t>
            </a:r>
            <a:endParaRPr lang="es-PE" sz="1600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2412365" y="3646805"/>
            <a:ext cx="5216525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s-PE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NIVEL INVENTIVO (No obvio ni evidente)</a:t>
            </a:r>
            <a:r>
              <a:rPr lang="es-PE" sz="16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: que para una persona con conocimientos técnicos medios en el campo técnico, la invención no debe resultar obvia, ni deducible a partir de las tecnologías existentes.</a:t>
            </a:r>
            <a:endParaRPr lang="es-PE" sz="1600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s-PE" sz="1600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2925129" y="5143183"/>
            <a:ext cx="4587875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s-PE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APLICACIÓN INDUSTRIAL</a:t>
            </a:r>
            <a:r>
              <a:rPr lang="es-PE" sz="16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: que pueda ser producido o utilizado en alguna actividad o industria</a:t>
            </a:r>
            <a:endParaRPr lang="es-PE" sz="1600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1 Flecha abajo"/>
          <p:cNvSpPr/>
          <p:nvPr/>
        </p:nvSpPr>
        <p:spPr>
          <a:xfrm>
            <a:off x="8766816" y="2940332"/>
            <a:ext cx="761657" cy="1787269"/>
          </a:xfrm>
          <a:prstGeom prst="downArrow">
            <a:avLst/>
          </a:prstGeom>
          <a:solidFill>
            <a:srgbClr val="C00249"/>
          </a:solidFill>
          <a:ln>
            <a:headEnd type="none" w="med" len="med"/>
            <a:tailEnd type="triangl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2 Elipse"/>
          <p:cNvSpPr/>
          <p:nvPr/>
        </p:nvSpPr>
        <p:spPr>
          <a:xfrm>
            <a:off x="8062278" y="4906647"/>
            <a:ext cx="2171700" cy="942975"/>
          </a:xfrm>
          <a:prstGeom prst="ellipse">
            <a:avLst/>
          </a:prstGeom>
          <a:solidFill>
            <a:srgbClr val="EFB53A"/>
          </a:solidFill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s-PE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20 años de protección</a:t>
            </a:r>
            <a:endParaRPr lang="es-PE" b="1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7" name="16 Cerrar llave"/>
          <p:cNvSpPr/>
          <p:nvPr/>
        </p:nvSpPr>
        <p:spPr>
          <a:xfrm>
            <a:off x="6516053" y="2534922"/>
            <a:ext cx="188912" cy="676275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/>
          </a:p>
        </p:txBody>
      </p:sp>
      <p:sp>
        <p:nvSpPr>
          <p:cNvPr id="21" name="20 Rectángulo redondeado"/>
          <p:cNvSpPr/>
          <p:nvPr/>
        </p:nvSpPr>
        <p:spPr>
          <a:xfrm>
            <a:off x="6866890" y="2574609"/>
            <a:ext cx="1117600" cy="574675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s-PE" sz="12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Período de gracia: 1 año</a:t>
            </a:r>
            <a:endParaRPr lang="es-PE" sz="1200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1 CuadroTexto"/>
          <p:cNvSpPr txBox="1">
            <a:spLocks noChangeArrowheads="1"/>
          </p:cNvSpPr>
          <p:nvPr/>
        </p:nvSpPr>
        <p:spPr bwMode="auto">
          <a:xfrm>
            <a:off x="2941320" y="480695"/>
            <a:ext cx="63087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s-ES" altLang="es-PE" sz="3600" b="1" dirty="0">
                <a:solidFill>
                  <a:srgbClr val="00285A"/>
                </a:solidFill>
                <a:latin typeface="Calibri" panose="020F0502020204030204" charset="0"/>
                <a:cs typeface="Calibri" panose="020F0502020204030204" charset="0"/>
              </a:rPr>
              <a:t>PATENTE DE INVENCIÓN</a:t>
            </a:r>
            <a:endParaRPr lang="es-ES" altLang="es-PE" sz="3600" b="1" dirty="0">
              <a:solidFill>
                <a:srgbClr val="00285A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9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5" grpId="0" bldLvl="0" animBg="1"/>
      <p:bldP spid="4" grpId="0" bldLvl="0" animBg="1"/>
      <p:bldP spid="20" grpId="0"/>
      <p:bldP spid="8" grpId="0"/>
      <p:bldP spid="18" grpId="0"/>
      <p:bldP spid="19" grpId="0"/>
      <p:bldP spid="3" grpId="0" bldLvl="0" animBg="1"/>
      <p:bldP spid="17" grpId="0" bldLvl="0" animBg="1"/>
      <p:bldP spid="21" grpId="0" bldLvl="0" animBg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7;p23"/>
          <p:cNvSpPr/>
          <p:nvPr/>
        </p:nvSpPr>
        <p:spPr>
          <a:xfrm>
            <a:off x="3343563" y="226131"/>
            <a:ext cx="5209309" cy="104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Ejemplo de patente de invención otorgada a la UCV</a:t>
            </a:r>
            <a:endParaRPr lang="es-ES" sz="3200" b="1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</p:txBody>
      </p:sp>
      <p:sp>
        <p:nvSpPr>
          <p:cNvPr id="10" name="Google Shape;192;p28"/>
          <p:cNvSpPr txBox="1"/>
          <p:nvPr/>
        </p:nvSpPr>
        <p:spPr>
          <a:xfrm>
            <a:off x="1127524" y="1918927"/>
            <a:ext cx="4709858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Formulación antifúngica de aceite esencial de muña (</a:t>
            </a:r>
            <a:r>
              <a:rPr lang="es-ES" sz="2000" dirty="0" err="1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Minthostachys</a:t>
            </a: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 </a:t>
            </a:r>
            <a:r>
              <a:rPr lang="es-ES" sz="2000" dirty="0" err="1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mollis</a:t>
            </a: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) encapsulado en una combinación de goma de tara (</a:t>
            </a:r>
            <a:r>
              <a:rPr lang="es-ES" sz="2000" dirty="0" err="1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caesalpinia</a:t>
            </a: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 </a:t>
            </a:r>
            <a:r>
              <a:rPr lang="es-ES" sz="2000" dirty="0" err="1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spinosa</a:t>
            </a: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 (molina) </a:t>
            </a:r>
            <a:r>
              <a:rPr lang="es-ES" sz="2000" dirty="0" err="1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kuntze</a:t>
            </a: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) y almidón de arracacha (</a:t>
            </a:r>
            <a:r>
              <a:rPr lang="es-ES" sz="2000" dirty="0" err="1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arracacia</a:t>
            </a: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 </a:t>
            </a:r>
            <a:r>
              <a:rPr lang="es-ES" sz="2000" dirty="0" err="1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xanthorrhiza</a:t>
            </a: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)</a:t>
            </a:r>
            <a:endParaRPr lang="es-ES" sz="2000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Inventores: </a:t>
            </a:r>
            <a:endParaRPr lang="es-ES" sz="2000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  <a:p>
            <a:pPr algn="just"/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León De Centurión María Elena</a:t>
            </a:r>
            <a:endParaRPr lang="es-ES" sz="2000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  <a:p>
            <a:pPr algn="just"/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Gómez Fuertes Alberto</a:t>
            </a:r>
            <a:endParaRPr lang="es-ES" sz="2000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Delgado Arana Ricardo Manuel </a:t>
            </a:r>
            <a:endParaRPr lang="es-ES" sz="2000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3"/>
          <a:stretch>
            <a:fillRect/>
          </a:stretch>
        </p:blipFill>
        <p:spPr>
          <a:xfrm>
            <a:off x="6788728" y="1484818"/>
            <a:ext cx="4210050" cy="4920096"/>
          </a:xfrm>
          <a:prstGeom prst="rect">
            <a:avLst/>
          </a:prstGeom>
        </p:spPr>
      </p:pic>
      <p:pic>
        <p:nvPicPr>
          <p:cNvPr id="2" name="Marcador de contenido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>
            <a:spLocks noChangeArrowheads="1"/>
          </p:cNvSpPr>
          <p:nvPr/>
        </p:nvSpPr>
        <p:spPr bwMode="auto">
          <a:xfrm>
            <a:off x="2941320" y="480695"/>
            <a:ext cx="63087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s-ES" altLang="es-PE" sz="3600" b="1" dirty="0">
                <a:solidFill>
                  <a:srgbClr val="00285A"/>
                </a:solidFill>
                <a:latin typeface="Calibri" panose="020F0502020204030204" charset="0"/>
                <a:cs typeface="Calibri" panose="020F0502020204030204" charset="0"/>
              </a:rPr>
              <a:t>MODELO DE UTILIDAD</a:t>
            </a:r>
            <a:endParaRPr lang="es-ES" altLang="es-PE" sz="3600" b="1" dirty="0">
              <a:solidFill>
                <a:srgbClr val="00285A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1240536" y="1848104"/>
            <a:ext cx="4530052" cy="381508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s-PE" altLang="es-PE" sz="22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Se considera modelo de utilidad, a toda </a:t>
            </a:r>
            <a:r>
              <a:rPr lang="es-PE" altLang="es-PE" sz="22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nueva</a:t>
            </a:r>
            <a:r>
              <a:rPr lang="es-PE" altLang="es-PE" sz="22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forma, configuración o disposición de elementos, de algún artefacto, herramienta, instrumento, mecanismo u otro objeto o de alguna parte del mismo, que permita un mejor o diferente funcionamiento, utilización o fabricación del objeto que le incorpore o que le proporcione alguna </a:t>
            </a:r>
            <a:r>
              <a:rPr lang="es-PE" altLang="es-PE" sz="22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utilidad, ventaja o efecto técnico que antes no tenía</a:t>
            </a:r>
            <a:r>
              <a:rPr lang="es-PE" altLang="es-PE" sz="22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. </a:t>
            </a:r>
            <a:endParaRPr lang="es-PE" altLang="es-PE" sz="2200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2 Rectángulo redondeado"/>
          <p:cNvSpPr/>
          <p:nvPr/>
        </p:nvSpPr>
        <p:spPr>
          <a:xfrm>
            <a:off x="6586794" y="1978150"/>
            <a:ext cx="4451665" cy="3324308"/>
          </a:xfrm>
          <a:prstGeom prst="round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s-PE" sz="24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PRODUCTOS</a:t>
            </a:r>
            <a:endParaRPr lang="es-PE" sz="2400" b="1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ctr">
              <a:defRPr/>
            </a:pPr>
            <a:endParaRPr lang="es-PE" sz="2400" b="1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ctr">
              <a:defRPr/>
            </a:pP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Artefactos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artículos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herramientas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instrumentos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aparatos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máquinas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equipos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mecanismos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u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otros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objetos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o de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alguna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parte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del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mismo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sz="24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adaptados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/>
          <p:cNvSpPr/>
          <p:nvPr/>
        </p:nvSpPr>
        <p:spPr>
          <a:xfrm>
            <a:off x="2378608" y="3870135"/>
            <a:ext cx="7737042" cy="1204598"/>
          </a:xfrm>
          <a:prstGeom prst="rect">
            <a:avLst/>
          </a:prstGeom>
          <a:gradFill flip="none" rotWithShape="1">
            <a:gsLst>
              <a:gs pos="0">
                <a:srgbClr val="EFB53A">
                  <a:tint val="66000"/>
                  <a:satMod val="160000"/>
                </a:srgbClr>
              </a:gs>
              <a:gs pos="50000">
                <a:srgbClr val="EFB53A">
                  <a:tint val="44500"/>
                  <a:satMod val="160000"/>
                </a:srgbClr>
              </a:gs>
              <a:gs pos="100000">
                <a:srgbClr val="EFB53A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/>
          <p:cNvSpPr/>
          <p:nvPr/>
        </p:nvSpPr>
        <p:spPr>
          <a:xfrm>
            <a:off x="1803137" y="2544461"/>
            <a:ext cx="8232775" cy="995657"/>
          </a:xfrm>
          <a:prstGeom prst="rect">
            <a:avLst/>
          </a:prstGeom>
          <a:gradFill flip="none" rotWithShape="1">
            <a:gsLst>
              <a:gs pos="0">
                <a:srgbClr val="C00249">
                  <a:tint val="66000"/>
                  <a:satMod val="160000"/>
                </a:srgbClr>
              </a:gs>
              <a:gs pos="50000">
                <a:srgbClr val="C00249">
                  <a:tint val="44500"/>
                  <a:satMod val="160000"/>
                </a:srgbClr>
              </a:gs>
              <a:gs pos="100000">
                <a:srgbClr val="C00249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20" name="Rectangle 7"/>
          <p:cNvSpPr txBox="1">
            <a:spLocks noChangeArrowheads="1"/>
          </p:cNvSpPr>
          <p:nvPr/>
        </p:nvSpPr>
        <p:spPr bwMode="auto">
          <a:xfrm>
            <a:off x="1474785" y="1823721"/>
            <a:ext cx="8956589" cy="55341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Times New Roman" panose="02020603050405020304" pitchFamily="18" charset="0"/>
              <a:buNone/>
              <a:defRPr/>
            </a:pPr>
            <a:r>
              <a:rPr lang="es-ES" sz="1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	Protegen invenciones (</a:t>
            </a:r>
            <a:r>
              <a:rPr lang="es-ES" sz="1800" b="1" u="sng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productos</a:t>
            </a:r>
            <a:r>
              <a:rPr lang="es-ES" sz="1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) siempre que cumplan con dos requisitos:</a:t>
            </a:r>
            <a:endParaRPr lang="es-ES" sz="1800" b="1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2407285" y="3915410"/>
            <a:ext cx="472694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s-PE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Ventaja Técnica: </a:t>
            </a:r>
            <a:r>
              <a:rPr lang="es-PE" sz="16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que la forma o configuración nueva de un invento permita un mejor uso, un funcionamiento diferente o adicionarle una utilidad que antes no tenía el producto.</a:t>
            </a:r>
            <a:endParaRPr lang="es-PE" sz="1600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20 Elipse"/>
          <p:cNvSpPr/>
          <p:nvPr/>
        </p:nvSpPr>
        <p:spPr>
          <a:xfrm>
            <a:off x="7605812" y="4751234"/>
            <a:ext cx="2171700" cy="942975"/>
          </a:xfrm>
          <a:prstGeom prst="ellipse">
            <a:avLst/>
          </a:prstGeom>
          <a:solidFill>
            <a:srgbClr val="EFB53A"/>
          </a:solidFill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s-PE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10 años de protección</a:t>
            </a:r>
            <a:endParaRPr lang="es-PE" b="1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12 Flecha abajo"/>
          <p:cNvSpPr/>
          <p:nvPr/>
        </p:nvSpPr>
        <p:spPr>
          <a:xfrm>
            <a:off x="8311563" y="2751239"/>
            <a:ext cx="761657" cy="1787269"/>
          </a:xfrm>
          <a:prstGeom prst="downArrow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14 CuadroTexto"/>
          <p:cNvSpPr txBox="1"/>
          <p:nvPr/>
        </p:nvSpPr>
        <p:spPr>
          <a:xfrm>
            <a:off x="1882875" y="2627159"/>
            <a:ext cx="4568825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s-PE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NOVEDAD (Nuevo):</a:t>
            </a:r>
            <a:r>
              <a:rPr lang="es-PE" sz="16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que no hayan sido divulgados de ninguna forma (ni por descripción escrita, oral, uso, comercialización u otro medio)</a:t>
            </a:r>
            <a:endParaRPr lang="es-PE" sz="1600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6" name="15 Cerrar llave"/>
          <p:cNvSpPr/>
          <p:nvPr/>
        </p:nvSpPr>
        <p:spPr>
          <a:xfrm>
            <a:off x="6442175" y="2749397"/>
            <a:ext cx="188913" cy="676275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/>
          </a:p>
        </p:txBody>
      </p:sp>
      <p:sp>
        <p:nvSpPr>
          <p:cNvPr id="25" name="24 Rectángulo redondeado"/>
          <p:cNvSpPr/>
          <p:nvPr/>
        </p:nvSpPr>
        <p:spPr>
          <a:xfrm>
            <a:off x="6784623" y="2780695"/>
            <a:ext cx="1117600" cy="574675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s-PE" sz="1200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Período de gracia: 1 año</a:t>
            </a:r>
            <a:endParaRPr lang="es-PE" sz="1200" dirty="0">
              <a:solidFill>
                <a:schemeClr val="accent5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1 CuadroTexto"/>
          <p:cNvSpPr txBox="1">
            <a:spLocks noChangeArrowheads="1"/>
          </p:cNvSpPr>
          <p:nvPr/>
        </p:nvSpPr>
        <p:spPr bwMode="auto">
          <a:xfrm>
            <a:off x="2941320" y="480695"/>
            <a:ext cx="63087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s-ES" altLang="es-PE" sz="3600" b="1" dirty="0">
                <a:solidFill>
                  <a:srgbClr val="00285A"/>
                </a:solidFill>
                <a:latin typeface="Calibri" panose="020F0502020204030204" charset="0"/>
                <a:cs typeface="Calibri" panose="020F0502020204030204" charset="0"/>
              </a:rPr>
              <a:t>MODELO DE UTILIDAD</a:t>
            </a:r>
            <a:endParaRPr lang="es-ES" altLang="es-PE" sz="3600" b="1" dirty="0">
              <a:solidFill>
                <a:srgbClr val="00285A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8" grpId="0"/>
      <p:bldP spid="21" grpId="0" bldLvl="0" animBg="1"/>
      <p:bldP spid="15" grpId="0"/>
      <p:bldP spid="16" grpId="0" bldLvl="0" animBg="1"/>
      <p:bldP spid="25" grpId="0" bldLvl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7;p23"/>
          <p:cNvSpPr/>
          <p:nvPr/>
        </p:nvSpPr>
        <p:spPr>
          <a:xfrm>
            <a:off x="3528291" y="226131"/>
            <a:ext cx="4922982" cy="104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Ejemplo de modelo de utilidad otorgado a la UCV</a:t>
            </a:r>
            <a:endParaRPr lang="es-ES" sz="3200" b="1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</p:txBody>
      </p:sp>
      <p:sp>
        <p:nvSpPr>
          <p:cNvPr id="10" name="Google Shape;192;p28"/>
          <p:cNvSpPr txBox="1"/>
          <p:nvPr/>
        </p:nvSpPr>
        <p:spPr>
          <a:xfrm>
            <a:off x="933561" y="2558094"/>
            <a:ext cx="4388888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Pulsera inteligente con fragancias aromáticas.</a:t>
            </a:r>
            <a:endParaRPr lang="es-ES" sz="2000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Baldeón Marca Yury Moisés</a:t>
            </a:r>
            <a:endParaRPr lang="es-ES" sz="2000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Burga Huamán Alexandra Nicole</a:t>
            </a:r>
            <a:endParaRPr lang="es-ES" sz="2000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00285A"/>
                </a:solidFill>
                <a:latin typeface="Calibri" panose="020F0502020204030204" charset="0"/>
                <a:ea typeface="Raleway"/>
                <a:cs typeface="Calibri" panose="020F0502020204030204" charset="0"/>
                <a:sym typeface="Raleway"/>
              </a:rPr>
              <a:t>Rodríguez Najarro Maricielo Gloria Mercedes</a:t>
            </a:r>
            <a:endParaRPr lang="es-ES" sz="2000" dirty="0">
              <a:solidFill>
                <a:srgbClr val="00285A"/>
              </a:solidFill>
              <a:latin typeface="Calibri" panose="020F0502020204030204" charset="0"/>
              <a:ea typeface="Raleway"/>
              <a:cs typeface="Calibri" panose="020F0502020204030204" charset="0"/>
              <a:sym typeface="Raleway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553" y="2633987"/>
            <a:ext cx="3888509" cy="2187286"/>
          </a:xfrm>
          <a:prstGeom prst="rect">
            <a:avLst/>
          </a:prstGeom>
        </p:spPr>
      </p:pic>
      <p:pic>
        <p:nvPicPr>
          <p:cNvPr id="2" name="Marcador de contenido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61415" y="2350770"/>
            <a:ext cx="9681210" cy="1960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s-E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IDENTIFICACIÓN DE INVENTOS EN ACTIVIDADES FRECUENTES</a:t>
            </a:r>
            <a:endParaRPr lang="es-ES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sp>
        <p:nvSpPr>
          <p:cNvPr id="7" name="CuadroTexto 1"/>
          <p:cNvSpPr txBox="1"/>
          <p:nvPr/>
        </p:nvSpPr>
        <p:spPr>
          <a:xfrm>
            <a:off x="1881809" y="354139"/>
            <a:ext cx="85994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</a:rPr>
              <a:t>CURSOS DE LÍNEA DE PRE Y POSGRADO</a:t>
            </a:r>
            <a:endParaRPr lang="es-ES" sz="3600" b="1" dirty="0">
              <a:solidFill>
                <a:srgbClr val="00206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1 CuadroTexto"/>
          <p:cNvSpPr txBox="1">
            <a:spLocks noChangeArrowheads="1"/>
          </p:cNvSpPr>
          <p:nvPr/>
        </p:nvSpPr>
        <p:spPr bwMode="auto">
          <a:xfrm>
            <a:off x="1188085" y="1593850"/>
            <a:ext cx="4391025" cy="4154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defRPr/>
            </a:pP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En los cursos en los que se debe realizar, o que al final del mismo, se debe presentar un proyecto o la aplicación de algún tipo de conocimiento, se podría proyectar que dicho proyecto se enfoque, en la medida de las posibilidades, hacia un proyecto de transferencia o el desarrollo de una patente.</a:t>
            </a:r>
            <a:endParaRPr lang="es-ES" altLang="es-PE" sz="24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/>
          <p:nvPr/>
        </p:nvPicPr>
        <p:blipFill>
          <a:blip r:embed="rId2"/>
          <a:srcRect l="14194" t="14093" r="4389" b="30130"/>
          <a:stretch>
            <a:fillRect/>
          </a:stretch>
        </p:blipFill>
        <p:spPr>
          <a:xfrm>
            <a:off x="6629400" y="2058670"/>
            <a:ext cx="4645660" cy="3224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sp>
        <p:nvSpPr>
          <p:cNvPr id="7" name="CuadroTexto 1"/>
          <p:cNvSpPr txBox="1"/>
          <p:nvPr/>
        </p:nvSpPr>
        <p:spPr>
          <a:xfrm>
            <a:off x="1881809" y="354139"/>
            <a:ext cx="85994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</a:rPr>
              <a:t>CURSOS DE LÍNEA DE PRE Y POSGRADO</a:t>
            </a:r>
            <a:endParaRPr lang="es-ES" sz="3600" b="1" dirty="0">
              <a:solidFill>
                <a:srgbClr val="00206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1 CuadroTexto"/>
          <p:cNvSpPr txBox="1">
            <a:spLocks noChangeArrowheads="1"/>
          </p:cNvSpPr>
          <p:nvPr/>
        </p:nvSpPr>
        <p:spPr bwMode="auto">
          <a:xfrm>
            <a:off x="1139190" y="2068830"/>
            <a:ext cx="4230370" cy="304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defRPr/>
            </a:pPr>
            <a:r>
              <a:rPr lang="es-ES" altLang="es-PE" sz="24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Primero</a:t>
            </a: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, identificar a los programas de estudio de cada filial. </a:t>
            </a:r>
            <a:r>
              <a:rPr lang="es-ES" altLang="es-PE" sz="24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Luego</a:t>
            </a: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, en cada programa, encontrar los cursos cuyo sillabus requiere presentar y ejecutar algún tipo de proyecto durante el ciclo regular.</a:t>
            </a:r>
            <a:endParaRPr lang="es-ES" altLang="es-PE" sz="24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/>
          <p:cNvPicPr/>
          <p:nvPr/>
        </p:nvPicPr>
        <p:blipFill>
          <a:blip r:embed="rId2"/>
          <a:stretch>
            <a:fillRect/>
          </a:stretch>
        </p:blipFill>
        <p:spPr>
          <a:xfrm>
            <a:off x="7099935" y="1890395"/>
            <a:ext cx="4102100" cy="3077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sp>
        <p:nvSpPr>
          <p:cNvPr id="7" name="CuadroTexto 1"/>
          <p:cNvSpPr txBox="1"/>
          <p:nvPr/>
        </p:nvSpPr>
        <p:spPr>
          <a:xfrm>
            <a:off x="1881809" y="354139"/>
            <a:ext cx="85994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</a:rPr>
              <a:t>CURSOS DE LÍNEA DE PRE Y POSGRADO</a:t>
            </a:r>
            <a:endParaRPr lang="es-ES" sz="3600" b="1" dirty="0">
              <a:solidFill>
                <a:srgbClr val="00206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1 CuadroTexto"/>
          <p:cNvSpPr txBox="1">
            <a:spLocks noChangeArrowheads="1"/>
          </p:cNvSpPr>
          <p:nvPr/>
        </p:nvSpPr>
        <p:spPr bwMode="auto">
          <a:xfrm>
            <a:off x="1126490" y="2286635"/>
            <a:ext cx="3985260" cy="304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defRPr/>
            </a:pP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s-ES" altLang="es-PE" sz="24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 continuación</a:t>
            </a: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, se debe identificar los cursos activos, seleccionar algunos (podrían ser todos), y </a:t>
            </a:r>
            <a:r>
              <a:rPr lang="es-ES" altLang="es-PE" sz="24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finalmente</a:t>
            </a: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, organizarlos en equipos de trabajo y prepararlos para ejecutar estas actividades.</a:t>
            </a:r>
            <a:endParaRPr lang="es-ES" altLang="es-PE" sz="24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/>
          <p:nvPr/>
        </p:nvPicPr>
        <p:blipFill>
          <a:blip r:embed="rId2"/>
          <a:srcRect l="9878" r="6583"/>
          <a:stretch>
            <a:fillRect/>
          </a:stretch>
        </p:blipFill>
        <p:spPr>
          <a:xfrm>
            <a:off x="5814695" y="2026285"/>
            <a:ext cx="5539740" cy="3536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sp>
        <p:nvSpPr>
          <p:cNvPr id="7" name="CuadroTexto 1"/>
          <p:cNvSpPr txBox="1"/>
          <p:nvPr/>
        </p:nvSpPr>
        <p:spPr>
          <a:xfrm>
            <a:off x="1881809" y="210629"/>
            <a:ext cx="8599491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800" b="1" dirty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</a:rPr>
              <a:t>TESIS DE PRE Y POSGRADO</a:t>
            </a:r>
            <a:endParaRPr lang="es-ES" sz="3800" b="1" dirty="0">
              <a:solidFill>
                <a:srgbClr val="00206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1 CuadroTexto"/>
          <p:cNvSpPr txBox="1">
            <a:spLocks noChangeArrowheads="1"/>
          </p:cNvSpPr>
          <p:nvPr/>
        </p:nvSpPr>
        <p:spPr bwMode="auto">
          <a:xfrm>
            <a:off x="1313180" y="1849755"/>
            <a:ext cx="444754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defRPr/>
            </a:pP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Dada su naturaleza de investigación, las tesis podrían orientarse a </a:t>
            </a:r>
            <a:r>
              <a:rPr lang="es-ES" altLang="es-PE" sz="24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solucionar una necesidad expresa</a:t>
            </a: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de algún actor de la región, o desarrollar una tecnología cuya necesidad se conoce, que </a:t>
            </a:r>
            <a:r>
              <a:rPr lang="es-ES" altLang="es-PE" sz="24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cumpla con los requisitos para proteger</a:t>
            </a: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un invento como propiedad intelectual.</a:t>
            </a:r>
            <a:endParaRPr lang="es-ES" altLang="es-PE" sz="24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n 21"/>
          <p:cNvPicPr/>
          <p:nvPr/>
        </p:nvPicPr>
        <p:blipFill>
          <a:blip r:embed="rId2"/>
          <a:stretch>
            <a:fillRect/>
          </a:stretch>
        </p:blipFill>
        <p:spPr>
          <a:xfrm>
            <a:off x="7222490" y="1917700"/>
            <a:ext cx="3564890" cy="3504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  <p:sp>
        <p:nvSpPr>
          <p:cNvPr id="7" name="CuadroTexto 1"/>
          <p:cNvSpPr txBox="1"/>
          <p:nvPr/>
        </p:nvSpPr>
        <p:spPr>
          <a:xfrm>
            <a:off x="1881809" y="210629"/>
            <a:ext cx="8599491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800" b="1" dirty="0">
                <a:solidFill>
                  <a:srgbClr val="002060"/>
                </a:solidFill>
                <a:latin typeface="Calibri" panose="020F0502020204030204" charset="0"/>
                <a:cs typeface="Calibri" panose="020F0502020204030204" charset="0"/>
              </a:rPr>
              <a:t>TESIS DE PRE Y POSGRADO</a:t>
            </a:r>
            <a:endParaRPr lang="es-ES" sz="3800" b="1" dirty="0">
              <a:solidFill>
                <a:srgbClr val="00206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1 CuadroTexto"/>
          <p:cNvSpPr txBox="1">
            <a:spLocks noChangeArrowheads="1"/>
          </p:cNvSpPr>
          <p:nvPr/>
        </p:nvSpPr>
        <p:spPr bwMode="auto">
          <a:xfrm>
            <a:off x="732790" y="1721485"/>
            <a:ext cx="5580380" cy="4154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defRPr/>
            </a:pP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Si es que la tesis:</a:t>
            </a:r>
            <a:endParaRPr lang="es-ES" altLang="es-PE" sz="24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defRPr/>
            </a:pPr>
            <a:endParaRPr lang="es-ES" altLang="es-PE" sz="24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defRPr/>
            </a:pP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Cumple con </a:t>
            </a:r>
            <a:r>
              <a:rPr lang="es-ES" altLang="es-PE" sz="24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solucionar una necesidad expresa</a:t>
            </a: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de algún actor de la región, podría ser parte de una transferencia de tecnología o conocimientos.</a:t>
            </a:r>
            <a:endParaRPr lang="es-ES" altLang="es-PE" sz="24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defRPr/>
            </a:pPr>
            <a:endParaRPr lang="es-ES" altLang="es-PE" sz="24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defRPr/>
            </a:pP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  <a:sym typeface="+mn-ea"/>
              </a:rPr>
              <a:t>Cumple con</a:t>
            </a:r>
            <a:r>
              <a:rPr lang="es-ES" altLang="es-PE" sz="2400" b="1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  <a:sym typeface="+mn-ea"/>
              </a:rPr>
              <a:t> los requisitos para proteger</a:t>
            </a:r>
            <a:r>
              <a:rPr lang="es-ES" altLang="es-PE" sz="2400" dirty="0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  <a:sym typeface="+mn-ea"/>
              </a:rPr>
              <a:t> un invento, podría solicitarse la protección por patente de invención y/o modelo de utilidad.</a:t>
            </a:r>
            <a:endParaRPr lang="es-ES" altLang="es-PE" sz="2400" dirty="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n 22"/>
          <p:cNvPicPr/>
          <p:nvPr/>
        </p:nvPicPr>
        <p:blipFill>
          <a:blip r:embed="rId2"/>
          <a:stretch>
            <a:fillRect/>
          </a:stretch>
        </p:blipFill>
        <p:spPr>
          <a:xfrm>
            <a:off x="7395845" y="2232025"/>
            <a:ext cx="3678555" cy="1809115"/>
          </a:xfrm>
          <a:prstGeom prst="rect">
            <a:avLst/>
          </a:prstGeom>
        </p:spPr>
      </p:pic>
      <p:pic>
        <p:nvPicPr>
          <p:cNvPr id="24" name="Imagen 23"/>
          <p:cNvPicPr/>
          <p:nvPr/>
        </p:nvPicPr>
        <p:blipFill>
          <a:blip r:embed="rId3"/>
          <a:stretch>
            <a:fillRect/>
          </a:stretch>
        </p:blipFill>
        <p:spPr>
          <a:xfrm>
            <a:off x="8216900" y="4256405"/>
            <a:ext cx="2037080" cy="1758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61415" y="2350770"/>
            <a:ext cx="9681210" cy="1960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s-E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PREGUNTAS</a:t>
            </a:r>
            <a:endParaRPr lang="es-ES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7;p23"/>
          <p:cNvSpPr/>
          <p:nvPr/>
        </p:nvSpPr>
        <p:spPr>
          <a:xfrm>
            <a:off x="2709110" y="3025942"/>
            <a:ext cx="6773779" cy="80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00" b="1" dirty="0">
                <a:solidFill>
                  <a:srgbClr val="00285A"/>
                </a:solidFill>
                <a:latin typeface="Arial" panose="020B0604020202020204" pitchFamily="34" charset="0"/>
                <a:ea typeface="Raleway"/>
                <a:cs typeface="Arial" panose="020B0604020202020204" pitchFamily="34" charset="0"/>
                <a:sym typeface="Raleway"/>
              </a:rPr>
              <a:t>MUCHAS GRACIAS</a:t>
            </a:r>
            <a:endParaRPr lang="es-ES" sz="4800" b="1" dirty="0">
              <a:solidFill>
                <a:srgbClr val="00285A"/>
              </a:solidFill>
              <a:latin typeface="Arial" panose="020B0604020202020204" pitchFamily="34" charset="0"/>
              <a:ea typeface="Raleway"/>
              <a:cs typeface="Arial" panose="020B0604020202020204" pitchFamily="34" charset="0"/>
              <a:sym typeface="Raleway"/>
            </a:endParaRPr>
          </a:p>
        </p:txBody>
      </p:sp>
      <p:pic>
        <p:nvPicPr>
          <p:cNvPr id="2" name="Marcador de contenido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4" t="4255" r="10227" b="81796"/>
          <a:stretch>
            <a:fillRect/>
          </a:stretch>
        </p:blipFill>
        <p:spPr>
          <a:xfrm>
            <a:off x="10481300" y="0"/>
            <a:ext cx="872836" cy="9579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CV">
      <a:majorFont>
        <a:latin typeface="Gotham"/>
        <a:ea typeface=""/>
        <a:cs typeface=""/>
      </a:majorFont>
      <a:minorFont>
        <a:latin typeface="Klavika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5255</Words>
  <Application>WPS Presentation</Application>
  <PresentationFormat>Panorámica</PresentationFormat>
  <Paragraphs>138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4" baseType="lpstr">
      <vt:lpstr>Arial</vt:lpstr>
      <vt:lpstr>SimSun</vt:lpstr>
      <vt:lpstr>Wingdings</vt:lpstr>
      <vt:lpstr>Calibri</vt:lpstr>
      <vt:lpstr>MS PGothic</vt:lpstr>
      <vt:lpstr>Aptos</vt:lpstr>
      <vt:lpstr>Segoe UI</vt:lpstr>
      <vt:lpstr>Helvetica</vt:lpstr>
      <vt:lpstr>Microsoft YaHei</vt:lpstr>
      <vt:lpstr>Arial Unicode MS</vt:lpstr>
      <vt:lpstr>Gotham</vt:lpstr>
      <vt:lpstr>Segoe Print</vt:lpstr>
      <vt:lpstr>Klavika Regular</vt:lpstr>
      <vt:lpstr>Gill Sans</vt:lpstr>
      <vt:lpstr>Gill Sans MT</vt:lpstr>
      <vt:lpstr>Arial</vt:lpstr>
      <vt:lpstr>Times New Roman</vt:lpstr>
      <vt:lpstr>Raleway</vt:lpstr>
      <vt:lpstr>Messina Sans</vt:lpstr>
      <vt:lpstr>Tema de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Vicerrectorado de Investigación</dc:title>
  <dc:creator>Full name</dc:creator>
  <cp:lastModifiedBy>Sergio Cabrera</cp:lastModifiedBy>
  <cp:revision>151</cp:revision>
  <dcterms:created xsi:type="dcterms:W3CDTF">2020-04-06T16:59:00Z</dcterms:created>
  <dcterms:modified xsi:type="dcterms:W3CDTF">2025-04-10T14:58:57Z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B61665214B9A473FA7629B9EE7ECB5A3_13</vt:lpwstr>
  </property>
  <property fmtid="{D5CDD505-2E9C-101B-9397-08002B2CF9AE}" pid="3" name="KSOProductBuildVer">
    <vt:lpwstr>3082-12.2.0.20782</vt:lpwstr>
  </property>
</Properties>
</file>