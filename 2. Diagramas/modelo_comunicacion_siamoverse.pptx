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"/>
  </p:notes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09" d="100"/>
          <a:sy n="109" d="100"/>
        </p:scale>
        <p:origin x="636" y="13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PE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9403684-44AD-4CF5-BEBA-3C4A6593B0FD}" type="datetimeFigureOut">
              <a:rPr lang="es-PE" smtClean="0"/>
              <a:t>9/06/2026</a:t>
            </a:fld>
            <a:endParaRPr lang="es-PE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PE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PE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PE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0D85A62-7C27-4064-975E-04D6D2587BE4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285614558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PE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0D85A62-7C27-4064-975E-04D6D2587BE4}" type="slidenum">
              <a:rPr lang="es-PE" smtClean="0"/>
              <a:t>1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110418189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6/9/2026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5" name="Grupo 104"/>
          <p:cNvGrpSpPr/>
          <p:nvPr/>
        </p:nvGrpSpPr>
        <p:grpSpPr>
          <a:xfrm>
            <a:off x="274320" y="109728"/>
            <a:ext cx="11658600" cy="6558741"/>
            <a:chOff x="274320" y="109728"/>
            <a:chExt cx="11658600" cy="6558741"/>
          </a:xfrm>
        </p:grpSpPr>
        <p:sp>
          <p:nvSpPr>
            <p:cNvPr id="2" name="TextBox 1"/>
            <p:cNvSpPr txBox="1"/>
            <p:nvPr/>
          </p:nvSpPr>
          <p:spPr>
            <a:xfrm>
              <a:off x="274320" y="109728"/>
              <a:ext cx="11658600" cy="320040"/>
            </a:xfrm>
            <a:prstGeom prst="rect">
              <a:avLst/>
            </a:prstGeom>
            <a:noFill/>
          </p:spPr>
          <p:txBody>
            <a:bodyPr wrap="none" anchor="ctr">
              <a:spAutoFit/>
            </a:bodyPr>
            <a:lstStyle/>
            <a:p>
              <a:pPr algn="ctr"/>
              <a:r>
                <a:rPr sz="2000" b="1">
                  <a:solidFill>
                    <a:srgbClr val="061A40"/>
                  </a:solidFill>
                </a:rPr>
                <a:t>Modelo de comunicación del dispositivo SIAMoverse</a:t>
              </a:r>
            </a:p>
          </p:txBody>
        </p:sp>
        <p:sp>
          <p:nvSpPr>
            <p:cNvPr id="3" name="TextBox 2"/>
            <p:cNvSpPr txBox="1"/>
            <p:nvPr/>
          </p:nvSpPr>
          <p:spPr>
            <a:xfrm>
              <a:off x="640080" y="438912"/>
              <a:ext cx="10881360" cy="228600"/>
            </a:xfrm>
            <a:prstGeom prst="rect">
              <a:avLst/>
            </a:prstGeom>
            <a:noFill/>
          </p:spPr>
          <p:txBody>
            <a:bodyPr wrap="none" anchor="ctr">
              <a:spAutoFit/>
            </a:bodyPr>
            <a:lstStyle/>
            <a:p>
              <a:pPr algn="ctr"/>
              <a:r>
                <a:rPr sz="1050" b="0">
                  <a:solidFill>
                    <a:srgbClr val="0B4CC2"/>
                  </a:solidFill>
                </a:rPr>
                <a:t>Comunicación local crítica, app Flutter, nube de apoyo y flujo SOS/GPS</a:t>
              </a:r>
            </a:p>
          </p:txBody>
        </p:sp>
        <p:sp>
          <p:nvSpPr>
            <p:cNvPr id="4" name="Rounded Rectangle 3"/>
            <p:cNvSpPr/>
            <p:nvPr/>
          </p:nvSpPr>
          <p:spPr>
            <a:xfrm>
              <a:off x="411480" y="822960"/>
              <a:ext cx="2514600" cy="4983480"/>
            </a:xfrm>
            <a:prstGeom prst="roundRect">
              <a:avLst/>
            </a:prstGeom>
            <a:solidFill>
              <a:srgbClr val="F8FAFC"/>
            </a:solidFill>
            <a:ln w="15240">
              <a:solidFill>
                <a:srgbClr val="94A3B8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lIns="54864" tIns="36576" rIns="54864" bIns="36576" rtlCol="0" anchor="t"/>
            <a:lstStyle/>
            <a:p>
              <a:pPr algn="ctr"/>
              <a:r>
                <a:rPr sz="1050" b="1" dirty="0">
                  <a:solidFill>
                    <a:srgbClr val="0F172A"/>
                  </a:solidFill>
                </a:rPr>
                <a:t>ENTORNO Y USUARIO</a:t>
              </a:r>
            </a:p>
            <a:p>
              <a:pPr algn="ctr"/>
              <a:r>
                <a:rPr sz="800" dirty="0" err="1">
                  <a:solidFill>
                    <a:srgbClr val="111827"/>
                  </a:solidFill>
                </a:rPr>
                <a:t>Ambientes</a:t>
              </a:r>
              <a:r>
                <a:rPr sz="800" dirty="0">
                  <a:solidFill>
                    <a:srgbClr val="111827"/>
                  </a:solidFill>
                </a:rPr>
                <a:t> </a:t>
              </a:r>
              <a:r>
                <a:rPr sz="800" dirty="0" err="1">
                  <a:solidFill>
                    <a:srgbClr val="111827"/>
                  </a:solidFill>
                </a:rPr>
                <a:t>internos</a:t>
              </a:r>
              <a:r>
                <a:rPr sz="800" dirty="0">
                  <a:solidFill>
                    <a:srgbClr val="111827"/>
                  </a:solidFill>
                </a:rPr>
                <a:t>/</a:t>
              </a:r>
              <a:r>
                <a:rPr sz="800" dirty="0" err="1">
                  <a:solidFill>
                    <a:srgbClr val="111827"/>
                  </a:solidFill>
                </a:rPr>
                <a:t>externos</a:t>
              </a:r>
              <a:r>
                <a:rPr sz="800" dirty="0">
                  <a:solidFill>
                    <a:srgbClr val="111827"/>
                  </a:solidFill>
                </a:rPr>
                <a:t>
</a:t>
              </a:r>
              <a:r>
                <a:rPr sz="800" dirty="0" err="1">
                  <a:solidFill>
                    <a:srgbClr val="111827"/>
                  </a:solidFill>
                </a:rPr>
                <a:t>Obstáculos</a:t>
              </a:r>
              <a:r>
                <a:rPr sz="800" dirty="0">
                  <a:solidFill>
                    <a:srgbClr val="111827"/>
                  </a:solidFill>
                </a:rPr>
                <a:t>, </a:t>
              </a:r>
              <a:r>
                <a:rPr sz="800" dirty="0" err="1">
                  <a:solidFill>
                    <a:srgbClr val="111827"/>
                  </a:solidFill>
                </a:rPr>
                <a:t>escaleras</a:t>
              </a:r>
              <a:r>
                <a:rPr sz="800" dirty="0">
                  <a:solidFill>
                    <a:srgbClr val="111827"/>
                  </a:solidFill>
                </a:rPr>
                <a:t>,
</a:t>
              </a:r>
              <a:r>
                <a:rPr sz="800" dirty="0" err="1">
                  <a:solidFill>
                    <a:srgbClr val="111827"/>
                  </a:solidFill>
                </a:rPr>
                <a:t>bordes</a:t>
              </a:r>
              <a:r>
                <a:rPr sz="800" dirty="0">
                  <a:solidFill>
                    <a:srgbClr val="111827"/>
                  </a:solidFill>
                </a:rPr>
                <a:t>, personas,
</a:t>
              </a:r>
              <a:r>
                <a:rPr sz="800" dirty="0" err="1">
                  <a:solidFill>
                    <a:srgbClr val="111827"/>
                  </a:solidFill>
                </a:rPr>
                <a:t>vehículos</a:t>
              </a:r>
              <a:r>
                <a:rPr sz="800" dirty="0">
                  <a:solidFill>
                    <a:srgbClr val="111827"/>
                  </a:solidFill>
                </a:rPr>
                <a:t> y </a:t>
              </a:r>
              <a:r>
                <a:rPr sz="800" dirty="0" err="1">
                  <a:solidFill>
                    <a:srgbClr val="111827"/>
                  </a:solidFill>
                </a:rPr>
                <a:t>rutas</a:t>
              </a:r>
              <a:endParaRPr sz="800" dirty="0">
                <a:solidFill>
                  <a:srgbClr val="111827"/>
                </a:solidFill>
              </a:endParaRPr>
            </a:p>
          </p:txBody>
        </p:sp>
        <p:sp>
          <p:nvSpPr>
            <p:cNvPr id="5" name="Rounded Rectangle 4"/>
            <p:cNvSpPr/>
            <p:nvPr/>
          </p:nvSpPr>
          <p:spPr>
            <a:xfrm>
              <a:off x="3246120" y="822960"/>
              <a:ext cx="2880360" cy="4983480"/>
            </a:xfrm>
            <a:prstGeom prst="roundRect">
              <a:avLst/>
            </a:prstGeom>
            <a:solidFill>
              <a:srgbClr val="EAF2FF"/>
            </a:solidFill>
            <a:ln w="22860">
              <a:solidFill>
                <a:srgbClr val="0B4CC2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lIns="54864" tIns="36576" rIns="54864" bIns="36576" rtlCol="0" anchor="t"/>
            <a:lstStyle/>
            <a:p>
              <a:pPr algn="ctr"/>
              <a:r>
                <a:rPr lang="es-MX" sz="1050" b="1" dirty="0">
                  <a:solidFill>
                    <a:srgbClr val="062A66"/>
                  </a:solidFill>
                </a:rPr>
                <a:t>DISPOSITIVO PECTORAL</a:t>
              </a:r>
            </a:p>
            <a:p>
              <a:pPr algn="ctr"/>
              <a:r>
                <a:rPr lang="es-MX" sz="800" dirty="0">
                  <a:solidFill>
                    <a:srgbClr val="111827"/>
                  </a:solidFill>
                </a:rPr>
                <a:t>Captura + procesamiento local
Prioridad </a:t>
              </a:r>
              <a:r>
                <a:rPr lang="es-MX" sz="800" dirty="0" err="1">
                  <a:solidFill>
                    <a:srgbClr val="111827"/>
                  </a:solidFill>
                </a:rPr>
                <a:t>Edge</a:t>
              </a:r>
              <a:r>
                <a:rPr lang="es-MX" sz="800" dirty="0">
                  <a:solidFill>
                    <a:srgbClr val="111827"/>
                  </a:solidFill>
                </a:rPr>
                <a:t> AI
Respuesta inmediata</a:t>
              </a:r>
            </a:p>
            <a:p>
              <a:pPr algn="ctr"/>
              <a:endParaRPr sz="800" dirty="0">
                <a:solidFill>
                  <a:srgbClr val="111827"/>
                </a:solidFill>
              </a:endParaRPr>
            </a:p>
          </p:txBody>
        </p:sp>
        <p:sp>
          <p:nvSpPr>
            <p:cNvPr id="6" name="Rounded Rectangle 5"/>
            <p:cNvSpPr/>
            <p:nvPr/>
          </p:nvSpPr>
          <p:spPr>
            <a:xfrm>
              <a:off x="6537960" y="822960"/>
              <a:ext cx="2331720" cy="4983480"/>
            </a:xfrm>
            <a:prstGeom prst="roundRect">
              <a:avLst/>
            </a:prstGeom>
            <a:solidFill>
              <a:srgbClr val="F1F7FF"/>
            </a:solidFill>
            <a:ln w="19050">
              <a:solidFill>
                <a:srgbClr val="0B4CC2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lIns="54864" tIns="36576" rIns="54864" bIns="36576" rtlCol="0" anchor="t"/>
            <a:lstStyle/>
            <a:p>
              <a:pPr algn="ctr"/>
              <a:r>
                <a:rPr sz="1050" b="1">
                  <a:solidFill>
                    <a:srgbClr val="062A66"/>
                  </a:solidFill>
                </a:rPr>
                <a:t>APLICACIÓN MÓVIL</a:t>
              </a:r>
            </a:p>
            <a:p>
              <a:pPr algn="ctr"/>
              <a:r>
                <a:rPr sz="800">
                  <a:solidFill>
                    <a:srgbClr val="111827"/>
                  </a:solidFill>
                </a:rPr>
                <a:t>Flutter
Monitoreo, configuración,
alertas y contactos</a:t>
              </a:r>
            </a:p>
          </p:txBody>
        </p:sp>
        <p:sp>
          <p:nvSpPr>
            <p:cNvPr id="7" name="Rounded Rectangle 6"/>
            <p:cNvSpPr/>
            <p:nvPr/>
          </p:nvSpPr>
          <p:spPr>
            <a:xfrm>
              <a:off x="9235440" y="822960"/>
              <a:ext cx="2697480" cy="4983480"/>
            </a:xfrm>
            <a:prstGeom prst="roundRect">
              <a:avLst/>
            </a:prstGeom>
            <a:solidFill>
              <a:srgbClr val="F8FAFC"/>
            </a:solidFill>
            <a:ln w="16510">
              <a:solidFill>
                <a:srgbClr val="64748B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lIns="54864" tIns="36576" rIns="54864" bIns="36576" rtlCol="0" anchor="t"/>
            <a:lstStyle/>
            <a:p>
              <a:pPr algn="ctr"/>
              <a:r>
                <a:rPr sz="1050" b="1" dirty="0">
                  <a:solidFill>
                    <a:srgbClr val="0F172A"/>
                  </a:solidFill>
                </a:rPr>
                <a:t>SERVICIOS EXTERNOS</a:t>
              </a:r>
            </a:p>
            <a:p>
              <a:pPr algn="ctr"/>
              <a:r>
                <a:rPr sz="800" dirty="0" err="1">
                  <a:solidFill>
                    <a:srgbClr val="111827"/>
                  </a:solidFill>
                </a:rPr>
                <a:t>Nube</a:t>
              </a:r>
              <a:r>
                <a:rPr sz="800" dirty="0">
                  <a:solidFill>
                    <a:srgbClr val="111827"/>
                  </a:solidFill>
                </a:rPr>
                <a:t>, </a:t>
              </a:r>
              <a:r>
                <a:rPr sz="800" dirty="0" err="1">
                  <a:solidFill>
                    <a:srgbClr val="111827"/>
                  </a:solidFill>
                </a:rPr>
                <a:t>actualización</a:t>
              </a:r>
              <a:r>
                <a:rPr sz="800" dirty="0">
                  <a:solidFill>
                    <a:srgbClr val="111827"/>
                  </a:solidFill>
                </a:rPr>
                <a:t> de </a:t>
              </a:r>
              <a:r>
                <a:rPr sz="800" dirty="0" err="1">
                  <a:solidFill>
                    <a:srgbClr val="111827"/>
                  </a:solidFill>
                </a:rPr>
                <a:t>modelo</a:t>
              </a:r>
              <a:r>
                <a:rPr sz="800" dirty="0">
                  <a:solidFill>
                    <a:srgbClr val="111827"/>
                  </a:solidFill>
                </a:rPr>
                <a:t>,
</a:t>
              </a:r>
              <a:r>
                <a:rPr sz="800" dirty="0" err="1">
                  <a:solidFill>
                    <a:srgbClr val="111827"/>
                  </a:solidFill>
                </a:rPr>
                <a:t>análisis</a:t>
              </a:r>
              <a:r>
                <a:rPr sz="800" dirty="0">
                  <a:solidFill>
                    <a:srgbClr val="111827"/>
                  </a:solidFill>
                </a:rPr>
                <a:t> posterior y
</a:t>
              </a:r>
              <a:r>
                <a:rPr sz="800" dirty="0" err="1">
                  <a:solidFill>
                    <a:srgbClr val="111827"/>
                  </a:solidFill>
                </a:rPr>
                <a:t>contactos</a:t>
              </a:r>
              <a:r>
                <a:rPr sz="800" dirty="0">
                  <a:solidFill>
                    <a:srgbClr val="111827"/>
                  </a:solidFill>
                </a:rPr>
                <a:t> </a:t>
              </a:r>
              <a:r>
                <a:rPr sz="800" dirty="0" err="1">
                  <a:solidFill>
                    <a:srgbClr val="111827"/>
                  </a:solidFill>
                </a:rPr>
                <a:t>autorizados</a:t>
              </a:r>
              <a:endParaRPr sz="800" dirty="0">
                <a:solidFill>
                  <a:srgbClr val="111827"/>
                </a:solidFill>
              </a:endParaRPr>
            </a:p>
          </p:txBody>
        </p:sp>
        <p:sp>
          <p:nvSpPr>
            <p:cNvPr id="8" name="Rounded Rectangle 7"/>
            <p:cNvSpPr/>
            <p:nvPr/>
          </p:nvSpPr>
          <p:spPr>
            <a:xfrm>
              <a:off x="3456432" y="1595588"/>
              <a:ext cx="2450592" cy="658368"/>
            </a:xfrm>
            <a:prstGeom prst="roundRect">
              <a:avLst/>
            </a:prstGeom>
            <a:solidFill>
              <a:srgbClr val="FFFFFF"/>
            </a:solidFill>
            <a:ln w="15240">
              <a:solidFill>
                <a:srgbClr val="0B4CC2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lIns="54864" tIns="36576" rIns="54864" bIns="36576" rtlCol="0" anchor="ctr"/>
            <a:lstStyle/>
            <a:p>
              <a:pPr algn="ctr"/>
              <a:r>
                <a:rPr sz="880" b="1">
                  <a:solidFill>
                    <a:srgbClr val="062A66"/>
                  </a:solidFill>
                </a:rPr>
                <a:t>1. Captura de datos</a:t>
              </a:r>
            </a:p>
            <a:p>
              <a:pPr algn="ctr"/>
              <a:r>
                <a:rPr sz="650">
                  <a:solidFill>
                    <a:srgbClr val="111827"/>
                  </a:solidFill>
                </a:rPr>
                <a:t>Cámara frontal • Cámara 45°
Sensores • GPS • Micrófono • SOS</a:t>
              </a:r>
            </a:p>
          </p:txBody>
        </p:sp>
        <p:sp>
          <p:nvSpPr>
            <p:cNvPr id="9" name="Rounded Rectangle 8"/>
            <p:cNvSpPr/>
            <p:nvPr/>
          </p:nvSpPr>
          <p:spPr>
            <a:xfrm>
              <a:off x="3456432" y="2704602"/>
              <a:ext cx="2450592" cy="658368"/>
            </a:xfrm>
            <a:prstGeom prst="roundRect">
              <a:avLst/>
            </a:prstGeom>
            <a:solidFill>
              <a:srgbClr val="FFFFFF"/>
            </a:solidFill>
            <a:ln w="15240">
              <a:solidFill>
                <a:srgbClr val="0B4CC2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lIns="54864" tIns="36576" rIns="54864" bIns="36576" rtlCol="0" anchor="ctr"/>
            <a:lstStyle/>
            <a:p>
              <a:pPr algn="ctr"/>
              <a:r>
                <a:rPr sz="880" b="1">
                  <a:solidFill>
                    <a:srgbClr val="062A66"/>
                  </a:solidFill>
                </a:rPr>
                <a:t>2. ESP32 / Control IoT</a:t>
              </a:r>
            </a:p>
            <a:p>
              <a:pPr algn="ctr"/>
              <a:r>
                <a:rPr sz="650">
                  <a:solidFill>
                    <a:srgbClr val="111827"/>
                  </a:solidFill>
                </a:rPr>
                <a:t>Coordina sensores, energía,
comunicación y alertas</a:t>
              </a:r>
            </a:p>
          </p:txBody>
        </p:sp>
        <p:sp>
          <p:nvSpPr>
            <p:cNvPr id="10" name="Rounded Rectangle 9"/>
            <p:cNvSpPr/>
            <p:nvPr/>
          </p:nvSpPr>
          <p:spPr>
            <a:xfrm>
              <a:off x="3456432" y="3859612"/>
              <a:ext cx="2450592" cy="658368"/>
            </a:xfrm>
            <a:prstGeom prst="roundRect">
              <a:avLst/>
            </a:prstGeom>
            <a:solidFill>
              <a:srgbClr val="FFFFFF"/>
            </a:solidFill>
            <a:ln w="15240">
              <a:solidFill>
                <a:srgbClr val="0B4CC2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lIns="54864" tIns="36576" rIns="54864" bIns="36576" rtlCol="0" anchor="ctr"/>
            <a:lstStyle/>
            <a:p>
              <a:pPr algn="ctr"/>
              <a:r>
                <a:rPr sz="880" b="1">
                  <a:solidFill>
                    <a:srgbClr val="062A66"/>
                  </a:solidFill>
                </a:rPr>
                <a:t>3. Edge AI local</a:t>
              </a:r>
            </a:p>
            <a:p>
              <a:pPr algn="ctr"/>
              <a:r>
                <a:rPr sz="650">
                  <a:solidFill>
                    <a:srgbClr val="111827"/>
                  </a:solidFill>
                </a:rPr>
                <a:t>Reconoce eventos visuales
y clasifica riesgos</a:t>
              </a:r>
            </a:p>
          </p:txBody>
        </p:sp>
        <p:sp>
          <p:nvSpPr>
            <p:cNvPr id="11" name="Rounded Rectangle 10"/>
            <p:cNvSpPr/>
            <p:nvPr/>
          </p:nvSpPr>
          <p:spPr>
            <a:xfrm>
              <a:off x="3456432" y="4986253"/>
              <a:ext cx="2450592" cy="713232"/>
            </a:xfrm>
            <a:prstGeom prst="roundRect">
              <a:avLst/>
            </a:prstGeom>
            <a:solidFill>
              <a:srgbClr val="FFFFFF"/>
            </a:solidFill>
            <a:ln w="15240">
              <a:solidFill>
                <a:srgbClr val="0B4CC2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lIns="54864" tIns="36576" rIns="54864" bIns="36576" rtlCol="0" anchor="ctr"/>
            <a:lstStyle/>
            <a:p>
              <a:pPr algn="ctr"/>
              <a:r>
                <a:rPr sz="880" b="1">
                  <a:solidFill>
                    <a:srgbClr val="062A66"/>
                  </a:solidFill>
                </a:rPr>
                <a:t>4. Respuesta inmediata</a:t>
              </a:r>
            </a:p>
            <a:p>
              <a:pPr algn="ctr"/>
              <a:r>
                <a:rPr sz="650">
                  <a:solidFill>
                    <a:srgbClr val="111827"/>
                  </a:solidFill>
                </a:rPr>
                <a:t>Audio • Vibración háptica
Indicadores • Alerta SOS</a:t>
              </a:r>
            </a:p>
          </p:txBody>
        </p:sp>
        <p:sp>
          <p:nvSpPr>
            <p:cNvPr id="12" name="Rounded Rectangle 11"/>
            <p:cNvSpPr/>
            <p:nvPr/>
          </p:nvSpPr>
          <p:spPr>
            <a:xfrm>
              <a:off x="6748272" y="1651277"/>
              <a:ext cx="1874519" cy="621792"/>
            </a:xfrm>
            <a:prstGeom prst="roundRect">
              <a:avLst/>
            </a:prstGeom>
            <a:solidFill>
              <a:srgbClr val="FFFFFF"/>
            </a:solidFill>
            <a:ln w="13970">
              <a:solidFill>
                <a:srgbClr val="0B4CC2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lIns="54864" tIns="36576" rIns="54864" bIns="36576" rtlCol="0" anchor="ctr"/>
            <a:lstStyle/>
            <a:p>
              <a:pPr algn="ctr"/>
              <a:r>
                <a:rPr sz="840" b="1">
                  <a:solidFill>
                    <a:srgbClr val="062A66"/>
                  </a:solidFill>
                </a:rPr>
                <a:t>Estado del dispositivo</a:t>
              </a:r>
            </a:p>
            <a:p>
              <a:pPr algn="ctr"/>
              <a:r>
                <a:rPr sz="650">
                  <a:solidFill>
                    <a:srgbClr val="111827"/>
                  </a:solidFill>
                </a:rPr>
                <a:t>batería, sensores,
riesgo y solar auxiliar</a:t>
              </a:r>
            </a:p>
          </p:txBody>
        </p:sp>
        <p:sp>
          <p:nvSpPr>
            <p:cNvPr id="13" name="Rounded Rectangle 12"/>
            <p:cNvSpPr/>
            <p:nvPr/>
          </p:nvSpPr>
          <p:spPr>
            <a:xfrm>
              <a:off x="6711698" y="2720340"/>
              <a:ext cx="1874519" cy="621792"/>
            </a:xfrm>
            <a:prstGeom prst="roundRect">
              <a:avLst/>
            </a:prstGeom>
            <a:solidFill>
              <a:srgbClr val="FFFFFF"/>
            </a:solidFill>
            <a:ln w="13970">
              <a:solidFill>
                <a:srgbClr val="0B4CC2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lIns="54864" tIns="36576" rIns="54864" bIns="36576" rtlCol="0" anchor="ctr"/>
            <a:lstStyle/>
            <a:p>
              <a:pPr algn="ctr"/>
              <a:r>
                <a:rPr sz="840" b="1">
                  <a:solidFill>
                    <a:srgbClr val="062A66"/>
                  </a:solidFill>
                </a:rPr>
                <a:t>Configuración</a:t>
              </a:r>
            </a:p>
            <a:p>
              <a:pPr algn="ctr"/>
              <a:r>
                <a:rPr sz="650">
                  <a:solidFill>
                    <a:srgbClr val="111827"/>
                  </a:solidFill>
                </a:rPr>
                <a:t>contactos, umbrales,
alertas y usuario</a:t>
              </a:r>
            </a:p>
          </p:txBody>
        </p:sp>
        <p:sp>
          <p:nvSpPr>
            <p:cNvPr id="14" name="Rounded Rectangle 13"/>
            <p:cNvSpPr/>
            <p:nvPr/>
          </p:nvSpPr>
          <p:spPr>
            <a:xfrm>
              <a:off x="6789422" y="3858768"/>
              <a:ext cx="1874519" cy="621792"/>
            </a:xfrm>
            <a:prstGeom prst="roundRect">
              <a:avLst/>
            </a:prstGeom>
            <a:solidFill>
              <a:srgbClr val="FFFFFF"/>
            </a:solidFill>
            <a:ln w="13970">
              <a:solidFill>
                <a:srgbClr val="0B4CC2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lIns="54864" tIns="36576" rIns="54864" bIns="36576" rtlCol="0" anchor="ctr"/>
            <a:lstStyle/>
            <a:p>
              <a:pPr algn="ctr"/>
              <a:r>
                <a:rPr sz="840" b="1">
                  <a:solidFill>
                    <a:srgbClr val="062A66"/>
                  </a:solidFill>
                </a:rPr>
                <a:t>Panel de alertas</a:t>
              </a:r>
            </a:p>
            <a:p>
              <a:pPr algn="ctr"/>
              <a:r>
                <a:rPr sz="650">
                  <a:solidFill>
                    <a:srgbClr val="111827"/>
                  </a:solidFill>
                </a:rPr>
                <a:t>riesgo, SOS e
historial autorizado</a:t>
              </a:r>
            </a:p>
          </p:txBody>
        </p:sp>
        <p:sp>
          <p:nvSpPr>
            <p:cNvPr id="15" name="Rounded Rectangle 14"/>
            <p:cNvSpPr/>
            <p:nvPr/>
          </p:nvSpPr>
          <p:spPr>
            <a:xfrm>
              <a:off x="6766560" y="4983480"/>
              <a:ext cx="1874519" cy="621792"/>
            </a:xfrm>
            <a:prstGeom prst="roundRect">
              <a:avLst/>
            </a:prstGeom>
            <a:solidFill>
              <a:srgbClr val="FFFFFF"/>
            </a:solidFill>
            <a:ln w="13970">
              <a:solidFill>
                <a:srgbClr val="0B4CC2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lIns="54864" tIns="36576" rIns="54864" bIns="36576" rtlCol="0" anchor="ctr"/>
            <a:lstStyle/>
            <a:p>
              <a:pPr algn="ctr"/>
              <a:r>
                <a:rPr sz="840" b="1">
                  <a:solidFill>
                    <a:srgbClr val="062A66"/>
                  </a:solidFill>
                </a:rPr>
                <a:t>Interfaz accesible</a:t>
              </a:r>
            </a:p>
            <a:p>
              <a:pPr algn="ctr"/>
              <a:r>
                <a:rPr sz="650">
                  <a:solidFill>
                    <a:srgbClr val="111827"/>
                  </a:solidFill>
                </a:rPr>
                <a:t>notificaciones,
voz y monitoreo</a:t>
              </a:r>
            </a:p>
          </p:txBody>
        </p:sp>
        <p:sp>
          <p:nvSpPr>
            <p:cNvPr id="16" name="Rounded Rectangle 15"/>
            <p:cNvSpPr/>
            <p:nvPr/>
          </p:nvSpPr>
          <p:spPr>
            <a:xfrm>
              <a:off x="9486900" y="1605097"/>
              <a:ext cx="2194560" cy="694944"/>
            </a:xfrm>
            <a:prstGeom prst="roundRect">
              <a:avLst/>
            </a:prstGeom>
            <a:solidFill>
              <a:srgbClr val="FFFFFF"/>
            </a:solidFill>
            <a:ln w="13970">
              <a:solidFill>
                <a:srgbClr val="64748B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lIns="54864" tIns="36576" rIns="54864" bIns="36576" rtlCol="0" anchor="ctr"/>
            <a:lstStyle/>
            <a:p>
              <a:pPr algn="ctr"/>
              <a:r>
                <a:rPr sz="860" b="1">
                  <a:solidFill>
                    <a:srgbClr val="0F172A"/>
                  </a:solidFill>
                </a:rPr>
                <a:t>Nube de apoyo</a:t>
              </a:r>
            </a:p>
            <a:p>
              <a:pPr algn="ctr"/>
              <a:r>
                <a:rPr sz="650">
                  <a:solidFill>
                    <a:srgbClr val="111827"/>
                  </a:solidFill>
                </a:rPr>
                <a:t>almacenamiento autorizado
actualización de modelo</a:t>
              </a:r>
            </a:p>
          </p:txBody>
        </p:sp>
        <p:sp>
          <p:nvSpPr>
            <p:cNvPr id="17" name="Rounded Rectangle 16"/>
            <p:cNvSpPr/>
            <p:nvPr/>
          </p:nvSpPr>
          <p:spPr>
            <a:xfrm>
              <a:off x="9537192" y="2684549"/>
              <a:ext cx="2194560" cy="694944"/>
            </a:xfrm>
            <a:prstGeom prst="roundRect">
              <a:avLst/>
            </a:prstGeom>
            <a:solidFill>
              <a:srgbClr val="FFFFFF"/>
            </a:solidFill>
            <a:ln w="13970">
              <a:solidFill>
                <a:srgbClr val="64748B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lIns="54864" tIns="36576" rIns="54864" bIns="36576" rtlCol="0" anchor="ctr"/>
            <a:lstStyle/>
            <a:p>
              <a:pPr algn="ctr"/>
              <a:r>
                <a:rPr sz="860" b="1">
                  <a:solidFill>
                    <a:srgbClr val="0F172A"/>
                  </a:solidFill>
                </a:rPr>
                <a:t>Análisis posterior</a:t>
              </a:r>
            </a:p>
            <a:p>
              <a:pPr algn="ctr"/>
              <a:r>
                <a:rPr sz="650">
                  <a:solidFill>
                    <a:srgbClr val="111827"/>
                  </a:solidFill>
                </a:rPr>
                <a:t>eventos, dataset
y mantenimiento</a:t>
              </a:r>
            </a:p>
          </p:txBody>
        </p:sp>
        <p:sp>
          <p:nvSpPr>
            <p:cNvPr id="18" name="Rounded Rectangle 17"/>
            <p:cNvSpPr/>
            <p:nvPr/>
          </p:nvSpPr>
          <p:spPr>
            <a:xfrm>
              <a:off x="9573768" y="3785616"/>
              <a:ext cx="2194560" cy="786384"/>
            </a:xfrm>
            <a:prstGeom prst="roundRect">
              <a:avLst/>
            </a:prstGeom>
            <a:solidFill>
              <a:srgbClr val="FFF3F3"/>
            </a:solidFill>
            <a:ln w="17780">
              <a:solidFill>
                <a:srgbClr val="B91C1C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lIns="54864" tIns="36576" rIns="54864" bIns="36576" rtlCol="0" anchor="ctr"/>
            <a:lstStyle/>
            <a:p>
              <a:pPr algn="ctr"/>
              <a:r>
                <a:rPr sz="860" b="1">
                  <a:solidFill>
                    <a:srgbClr val="7F1D1D"/>
                  </a:solidFill>
                </a:rPr>
                <a:t>Contacto de emergencia</a:t>
              </a:r>
            </a:p>
            <a:p>
              <a:pPr algn="ctr"/>
              <a:r>
                <a:rPr sz="650">
                  <a:solidFill>
                    <a:srgbClr val="111827"/>
                  </a:solidFill>
                </a:rPr>
                <a:t>recibe alerta SOS
con ubicación GPS</a:t>
              </a:r>
            </a:p>
          </p:txBody>
        </p:sp>
        <p:sp>
          <p:nvSpPr>
            <p:cNvPr id="19" name="Oval 18"/>
            <p:cNvSpPr/>
            <p:nvPr/>
          </p:nvSpPr>
          <p:spPr>
            <a:xfrm>
              <a:off x="468365" y="1636637"/>
              <a:ext cx="946934" cy="946934"/>
            </a:xfrm>
            <a:prstGeom prst="ellipse">
              <a:avLst/>
            </a:prstGeom>
            <a:solidFill>
              <a:srgbClr val="FFFFFF"/>
            </a:solidFill>
            <a:ln w="12700">
              <a:solidFill>
                <a:srgbClr val="64748B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sz="710" b="1" dirty="0" err="1">
                  <a:solidFill>
                    <a:srgbClr val="0F172A"/>
                  </a:solidFill>
                </a:rPr>
                <a:t>Obstáculos</a:t>
              </a:r>
              <a:endParaRPr sz="710" b="1" dirty="0">
                <a:solidFill>
                  <a:srgbClr val="0F172A"/>
                </a:solidFill>
              </a:endParaRPr>
            </a:p>
          </p:txBody>
        </p:sp>
        <p:sp>
          <p:nvSpPr>
            <p:cNvPr id="20" name="Oval 19"/>
            <p:cNvSpPr/>
            <p:nvPr/>
          </p:nvSpPr>
          <p:spPr>
            <a:xfrm>
              <a:off x="1653390" y="2393707"/>
              <a:ext cx="918442" cy="918442"/>
            </a:xfrm>
            <a:prstGeom prst="ellipse">
              <a:avLst/>
            </a:prstGeom>
            <a:solidFill>
              <a:srgbClr val="FFFFFF"/>
            </a:solidFill>
            <a:ln w="12700">
              <a:solidFill>
                <a:srgbClr val="64748B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sz="710" b="1">
                  <a:solidFill>
                    <a:srgbClr val="0F172A"/>
                  </a:solidFill>
                </a:rPr>
                <a:t>Desniveles</a:t>
              </a:r>
            </a:p>
          </p:txBody>
        </p:sp>
        <p:sp>
          <p:nvSpPr>
            <p:cNvPr id="21" name="Oval 20"/>
            <p:cNvSpPr/>
            <p:nvPr/>
          </p:nvSpPr>
          <p:spPr>
            <a:xfrm>
              <a:off x="642481" y="3113531"/>
              <a:ext cx="603504" cy="603504"/>
            </a:xfrm>
            <a:prstGeom prst="ellipse">
              <a:avLst/>
            </a:prstGeom>
            <a:solidFill>
              <a:srgbClr val="FFFFFF"/>
            </a:solidFill>
            <a:ln w="12700">
              <a:solidFill>
                <a:srgbClr val="64748B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sz="710" b="1">
                  <a:solidFill>
                    <a:srgbClr val="0F172A"/>
                  </a:solidFill>
                </a:rPr>
                <a:t>Rutas</a:t>
              </a:r>
            </a:p>
          </p:txBody>
        </p:sp>
        <p:sp>
          <p:nvSpPr>
            <p:cNvPr id="22" name="Oval 21"/>
            <p:cNvSpPr/>
            <p:nvPr/>
          </p:nvSpPr>
          <p:spPr>
            <a:xfrm>
              <a:off x="1273656" y="3945496"/>
              <a:ext cx="889272" cy="889272"/>
            </a:xfrm>
            <a:prstGeom prst="ellipse">
              <a:avLst/>
            </a:prstGeom>
            <a:solidFill>
              <a:srgbClr val="FFFFFF"/>
            </a:solidFill>
            <a:ln w="12700">
              <a:solidFill>
                <a:srgbClr val="64748B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sz="710" b="1" dirty="0" err="1">
                  <a:solidFill>
                    <a:srgbClr val="0F172A"/>
                  </a:solidFill>
                </a:rPr>
                <a:t>Usuario</a:t>
              </a:r>
              <a:endParaRPr sz="710" b="1" dirty="0">
                <a:solidFill>
                  <a:srgbClr val="0F172A"/>
                </a:solidFill>
              </a:endParaRPr>
            </a:p>
          </p:txBody>
        </p:sp>
        <p:cxnSp>
          <p:nvCxnSpPr>
            <p:cNvPr id="23" name="Connector 22"/>
            <p:cNvCxnSpPr>
              <a:stCxn id="4" idx="3"/>
              <a:endCxn id="8" idx="1"/>
            </p:cNvCxnSpPr>
            <p:nvPr/>
          </p:nvCxnSpPr>
          <p:spPr>
            <a:xfrm flipV="1">
              <a:off x="2926080" y="1924772"/>
              <a:ext cx="530352" cy="1389928"/>
            </a:xfrm>
            <a:prstGeom prst="line">
              <a:avLst/>
            </a:prstGeom>
            <a:ln w="22860">
              <a:solidFill>
                <a:srgbClr val="0B4CC2"/>
              </a:solidFill>
              <a:headEnd type="none"/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ounded Rectangle 23"/>
            <p:cNvSpPr/>
            <p:nvPr/>
          </p:nvSpPr>
          <p:spPr>
            <a:xfrm>
              <a:off x="2651760" y="2352558"/>
              <a:ext cx="1097280" cy="274320"/>
            </a:xfrm>
            <a:prstGeom prst="roundRect">
              <a:avLst/>
            </a:prstGeom>
            <a:solidFill>
              <a:srgbClr val="FFFFFF"/>
            </a:solidFill>
            <a:ln>
              <a:solidFill>
                <a:srgbClr val="FFFFFF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sz="720" b="1">
                  <a:solidFill>
                    <a:srgbClr val="0B4CC2"/>
                  </a:solidFill>
                </a:rPr>
                <a:t>datos del entorno</a:t>
              </a:r>
            </a:p>
          </p:txBody>
        </p:sp>
        <p:cxnSp>
          <p:nvCxnSpPr>
            <p:cNvPr id="25" name="Connector 24"/>
            <p:cNvCxnSpPr>
              <a:stCxn id="8" idx="2"/>
              <a:endCxn id="9" idx="0"/>
            </p:cNvCxnSpPr>
            <p:nvPr/>
          </p:nvCxnSpPr>
          <p:spPr>
            <a:xfrm>
              <a:off x="4681728" y="2253956"/>
              <a:ext cx="0" cy="450646"/>
            </a:xfrm>
            <a:prstGeom prst="line">
              <a:avLst/>
            </a:prstGeom>
            <a:ln w="22860">
              <a:solidFill>
                <a:srgbClr val="0B4CC2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6" name="Rounded Rectangle 25"/>
            <p:cNvSpPr/>
            <p:nvPr/>
          </p:nvSpPr>
          <p:spPr>
            <a:xfrm>
              <a:off x="4436088" y="2337903"/>
              <a:ext cx="502920" cy="201168"/>
            </a:xfrm>
            <a:prstGeom prst="roundRect">
              <a:avLst/>
            </a:prstGeom>
            <a:solidFill>
              <a:srgbClr val="FFFFFF"/>
            </a:solidFill>
            <a:ln>
              <a:solidFill>
                <a:srgbClr val="FFFFFF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sz="720" b="1" dirty="0" err="1">
                  <a:solidFill>
                    <a:srgbClr val="0B4CC2"/>
                  </a:solidFill>
                </a:rPr>
                <a:t>lecturas</a:t>
              </a:r>
              <a:endParaRPr sz="720" b="1" dirty="0">
                <a:solidFill>
                  <a:srgbClr val="0B4CC2"/>
                </a:solidFill>
              </a:endParaRPr>
            </a:p>
          </p:txBody>
        </p:sp>
        <p:cxnSp>
          <p:nvCxnSpPr>
            <p:cNvPr id="27" name="Connector 26"/>
            <p:cNvCxnSpPr>
              <a:stCxn id="9" idx="2"/>
              <a:endCxn id="10" idx="0"/>
            </p:cNvCxnSpPr>
            <p:nvPr/>
          </p:nvCxnSpPr>
          <p:spPr>
            <a:xfrm>
              <a:off x="4681728" y="3362970"/>
              <a:ext cx="0" cy="496642"/>
            </a:xfrm>
            <a:prstGeom prst="line">
              <a:avLst/>
            </a:prstGeom>
            <a:ln w="22860">
              <a:solidFill>
                <a:srgbClr val="0B4CC2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8" name="Rounded Rectangle 27"/>
            <p:cNvSpPr/>
            <p:nvPr/>
          </p:nvSpPr>
          <p:spPr>
            <a:xfrm>
              <a:off x="4398264" y="3463277"/>
              <a:ext cx="566928" cy="191093"/>
            </a:xfrm>
            <a:prstGeom prst="roundRect">
              <a:avLst/>
            </a:prstGeom>
            <a:solidFill>
              <a:srgbClr val="FFFFFF"/>
            </a:solidFill>
            <a:ln>
              <a:solidFill>
                <a:srgbClr val="FFFFFF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sz="720" b="1" dirty="0" err="1">
                  <a:solidFill>
                    <a:srgbClr val="0B4CC2"/>
                  </a:solidFill>
                </a:rPr>
                <a:t>datos</a:t>
              </a:r>
              <a:endParaRPr sz="720" b="1" dirty="0">
                <a:solidFill>
                  <a:srgbClr val="0B4CC2"/>
                </a:solidFill>
              </a:endParaRPr>
            </a:p>
          </p:txBody>
        </p:sp>
        <p:cxnSp>
          <p:nvCxnSpPr>
            <p:cNvPr id="29" name="Connector 28"/>
            <p:cNvCxnSpPr>
              <a:stCxn id="10" idx="2"/>
              <a:endCxn id="11" idx="0"/>
            </p:cNvCxnSpPr>
            <p:nvPr/>
          </p:nvCxnSpPr>
          <p:spPr>
            <a:xfrm>
              <a:off x="4681728" y="4517980"/>
              <a:ext cx="0" cy="468273"/>
            </a:xfrm>
            <a:prstGeom prst="line">
              <a:avLst/>
            </a:prstGeom>
            <a:ln w="22860">
              <a:solidFill>
                <a:srgbClr val="0B4CC2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0" name="Rounded Rectangle 29"/>
            <p:cNvSpPr/>
            <p:nvPr/>
          </p:nvSpPr>
          <p:spPr>
            <a:xfrm>
              <a:off x="4407408" y="4628260"/>
              <a:ext cx="548640" cy="205110"/>
            </a:xfrm>
            <a:prstGeom prst="roundRect">
              <a:avLst/>
            </a:prstGeom>
            <a:solidFill>
              <a:srgbClr val="FFFFFF"/>
            </a:solidFill>
            <a:ln>
              <a:solidFill>
                <a:srgbClr val="FFFFFF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sz="720" b="1" dirty="0" err="1">
                  <a:solidFill>
                    <a:srgbClr val="0B4CC2"/>
                  </a:solidFill>
                </a:rPr>
                <a:t>riesgo</a:t>
              </a:r>
              <a:endParaRPr sz="720" b="1" dirty="0">
                <a:solidFill>
                  <a:srgbClr val="0B4CC2"/>
                </a:solidFill>
              </a:endParaRPr>
            </a:p>
          </p:txBody>
        </p:sp>
        <p:cxnSp>
          <p:nvCxnSpPr>
            <p:cNvPr id="33" name="Connector 32"/>
            <p:cNvCxnSpPr>
              <a:stCxn id="5" idx="3"/>
              <a:endCxn id="12" idx="1"/>
            </p:cNvCxnSpPr>
            <p:nvPr/>
          </p:nvCxnSpPr>
          <p:spPr>
            <a:xfrm flipV="1">
              <a:off x="6126480" y="1962173"/>
              <a:ext cx="621792" cy="1352527"/>
            </a:xfrm>
            <a:prstGeom prst="line">
              <a:avLst/>
            </a:prstGeom>
            <a:ln w="22860">
              <a:solidFill>
                <a:srgbClr val="0B4CC2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4" name="Rounded Rectangle 33"/>
            <p:cNvSpPr/>
            <p:nvPr/>
          </p:nvSpPr>
          <p:spPr>
            <a:xfrm>
              <a:off x="6195060" y="2304288"/>
              <a:ext cx="685800" cy="320040"/>
            </a:xfrm>
            <a:prstGeom prst="roundRect">
              <a:avLst/>
            </a:prstGeom>
            <a:solidFill>
              <a:srgbClr val="FFFFFF"/>
            </a:solidFill>
            <a:ln>
              <a:solidFill>
                <a:srgbClr val="FFFFFF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sz="720" b="1" dirty="0">
                  <a:solidFill>
                    <a:srgbClr val="0B4CC2"/>
                  </a:solidFill>
                </a:rPr>
                <a:t>BT/</a:t>
              </a:r>
              <a:r>
                <a:rPr sz="720" b="1" dirty="0" err="1">
                  <a:solidFill>
                    <a:srgbClr val="0B4CC2"/>
                  </a:solidFill>
                </a:rPr>
                <a:t>WiFi</a:t>
              </a:r>
              <a:r>
                <a:rPr sz="720" b="1" dirty="0">
                  <a:solidFill>
                    <a:srgbClr val="0B4CC2"/>
                  </a:solidFill>
                </a:rPr>
                <a:t>
</a:t>
              </a:r>
              <a:r>
                <a:rPr sz="720" b="1" dirty="0" err="1">
                  <a:solidFill>
                    <a:srgbClr val="0B4CC2"/>
                  </a:solidFill>
                </a:rPr>
                <a:t>telemetría</a:t>
              </a:r>
              <a:endParaRPr sz="720" b="1" dirty="0">
                <a:solidFill>
                  <a:srgbClr val="0B4CC2"/>
                </a:solidFill>
              </a:endParaRPr>
            </a:p>
          </p:txBody>
        </p:sp>
        <p:cxnSp>
          <p:nvCxnSpPr>
            <p:cNvPr id="35" name="Connector 34"/>
            <p:cNvCxnSpPr>
              <a:stCxn id="13" idx="1"/>
              <a:endCxn id="5" idx="3"/>
            </p:cNvCxnSpPr>
            <p:nvPr/>
          </p:nvCxnSpPr>
          <p:spPr>
            <a:xfrm flipH="1">
              <a:off x="6126480" y="3031236"/>
              <a:ext cx="585218" cy="283464"/>
            </a:xfrm>
            <a:prstGeom prst="line">
              <a:avLst/>
            </a:prstGeom>
            <a:ln w="22860">
              <a:solidFill>
                <a:srgbClr val="0B4CC2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6" name="Rounded Rectangle 35"/>
            <p:cNvSpPr/>
            <p:nvPr/>
          </p:nvSpPr>
          <p:spPr>
            <a:xfrm>
              <a:off x="6309964" y="3086313"/>
              <a:ext cx="804672" cy="189162"/>
            </a:xfrm>
            <a:prstGeom prst="roundRect">
              <a:avLst/>
            </a:prstGeom>
            <a:solidFill>
              <a:srgbClr val="FFFFFF"/>
            </a:solidFill>
            <a:ln>
              <a:solidFill>
                <a:srgbClr val="FFFFFF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sz="720" b="1" dirty="0" err="1">
                  <a:solidFill>
                    <a:srgbClr val="0B4CC2"/>
                  </a:solidFill>
                </a:rPr>
                <a:t>configuración</a:t>
              </a:r>
              <a:endParaRPr sz="720" b="1" dirty="0">
                <a:solidFill>
                  <a:srgbClr val="0B4CC2"/>
                </a:solidFill>
              </a:endParaRPr>
            </a:p>
          </p:txBody>
        </p:sp>
        <p:cxnSp>
          <p:nvCxnSpPr>
            <p:cNvPr id="37" name="Connector 36"/>
            <p:cNvCxnSpPr>
              <a:stCxn id="5" idx="3"/>
              <a:endCxn id="14" idx="1"/>
            </p:cNvCxnSpPr>
            <p:nvPr/>
          </p:nvCxnSpPr>
          <p:spPr>
            <a:xfrm>
              <a:off x="6126480" y="3314700"/>
              <a:ext cx="662942" cy="854964"/>
            </a:xfrm>
            <a:prstGeom prst="line">
              <a:avLst/>
            </a:prstGeom>
            <a:ln w="22860">
              <a:solidFill>
                <a:srgbClr val="0B4CC2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8" name="Rounded Rectangle 37"/>
            <p:cNvSpPr/>
            <p:nvPr/>
          </p:nvSpPr>
          <p:spPr>
            <a:xfrm>
              <a:off x="6002827" y="3538728"/>
              <a:ext cx="640080" cy="320040"/>
            </a:xfrm>
            <a:prstGeom prst="roundRect">
              <a:avLst/>
            </a:prstGeom>
            <a:solidFill>
              <a:srgbClr val="FFFFFF"/>
            </a:solidFill>
            <a:ln>
              <a:solidFill>
                <a:srgbClr val="FFFFFF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sz="720" b="1">
                  <a:solidFill>
                    <a:srgbClr val="0B4CC2"/>
                  </a:solidFill>
                </a:rPr>
                <a:t>eventos
de riesgo</a:t>
              </a:r>
            </a:p>
          </p:txBody>
        </p:sp>
        <p:cxnSp>
          <p:nvCxnSpPr>
            <p:cNvPr id="39" name="Connector 38"/>
            <p:cNvCxnSpPr>
              <a:stCxn id="12" idx="3"/>
              <a:endCxn id="16" idx="1"/>
            </p:cNvCxnSpPr>
            <p:nvPr/>
          </p:nvCxnSpPr>
          <p:spPr>
            <a:xfrm flipV="1">
              <a:off x="8622791" y="1952569"/>
              <a:ext cx="864109" cy="9604"/>
            </a:xfrm>
            <a:prstGeom prst="line">
              <a:avLst/>
            </a:prstGeom>
            <a:ln w="22860">
              <a:solidFill>
                <a:srgbClr val="64748B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40" name="Rounded Rectangle 39"/>
            <p:cNvSpPr/>
            <p:nvPr/>
          </p:nvSpPr>
          <p:spPr>
            <a:xfrm>
              <a:off x="8739378" y="1825013"/>
              <a:ext cx="621792" cy="310896"/>
            </a:xfrm>
            <a:prstGeom prst="roundRect">
              <a:avLst/>
            </a:prstGeom>
            <a:solidFill>
              <a:srgbClr val="FFFFFF"/>
            </a:solidFill>
            <a:ln>
              <a:solidFill>
                <a:srgbClr val="FFFFFF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sz="720" b="1" dirty="0">
                  <a:solidFill>
                    <a:srgbClr val="64748B"/>
                  </a:solidFill>
                </a:rPr>
                <a:t>sync
no </a:t>
              </a:r>
              <a:r>
                <a:rPr sz="720" b="1" dirty="0" err="1">
                  <a:solidFill>
                    <a:srgbClr val="64748B"/>
                  </a:solidFill>
                </a:rPr>
                <a:t>crítica</a:t>
              </a:r>
              <a:endParaRPr sz="720" b="1" dirty="0">
                <a:solidFill>
                  <a:srgbClr val="64748B"/>
                </a:solidFill>
              </a:endParaRPr>
            </a:p>
          </p:txBody>
        </p:sp>
        <p:cxnSp>
          <p:nvCxnSpPr>
            <p:cNvPr id="41" name="Connector 40"/>
            <p:cNvCxnSpPr>
              <a:stCxn id="17" idx="1"/>
              <a:endCxn id="13" idx="3"/>
            </p:cNvCxnSpPr>
            <p:nvPr/>
          </p:nvCxnSpPr>
          <p:spPr>
            <a:xfrm flipH="1" flipV="1">
              <a:off x="8586217" y="3031236"/>
              <a:ext cx="950975" cy="785"/>
            </a:xfrm>
            <a:prstGeom prst="line">
              <a:avLst/>
            </a:prstGeom>
            <a:ln w="22860">
              <a:solidFill>
                <a:srgbClr val="64748B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42" name="Rounded Rectangle 41"/>
            <p:cNvSpPr/>
            <p:nvPr/>
          </p:nvSpPr>
          <p:spPr>
            <a:xfrm>
              <a:off x="8777501" y="2882069"/>
              <a:ext cx="640080" cy="310896"/>
            </a:xfrm>
            <a:prstGeom prst="roundRect">
              <a:avLst/>
            </a:prstGeom>
            <a:solidFill>
              <a:srgbClr val="FFFFFF"/>
            </a:solidFill>
            <a:ln>
              <a:solidFill>
                <a:srgbClr val="FFFFFF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sz="720" b="1">
                  <a:solidFill>
                    <a:srgbClr val="64748B"/>
                  </a:solidFill>
                </a:rPr>
                <a:t>modelo /
config.</a:t>
              </a:r>
            </a:p>
          </p:txBody>
        </p:sp>
        <p:cxnSp>
          <p:nvCxnSpPr>
            <p:cNvPr id="43" name="Connector 42"/>
            <p:cNvCxnSpPr>
              <a:stCxn id="14" idx="3"/>
              <a:endCxn id="18" idx="1"/>
            </p:cNvCxnSpPr>
            <p:nvPr/>
          </p:nvCxnSpPr>
          <p:spPr>
            <a:xfrm>
              <a:off x="8663941" y="4169664"/>
              <a:ext cx="909827" cy="9144"/>
            </a:xfrm>
            <a:prstGeom prst="line">
              <a:avLst/>
            </a:prstGeom>
            <a:ln w="22860">
              <a:solidFill>
                <a:srgbClr val="B91C1C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44" name="Rounded Rectangle 43"/>
            <p:cNvSpPr/>
            <p:nvPr/>
          </p:nvSpPr>
          <p:spPr>
            <a:xfrm>
              <a:off x="8814816" y="4065411"/>
              <a:ext cx="594360" cy="237744"/>
            </a:xfrm>
            <a:prstGeom prst="roundRect">
              <a:avLst/>
            </a:prstGeom>
            <a:solidFill>
              <a:srgbClr val="FFFFFF"/>
            </a:solidFill>
            <a:ln>
              <a:solidFill>
                <a:srgbClr val="FFFFFF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sz="720" b="1" dirty="0">
                  <a:solidFill>
                    <a:srgbClr val="B91C1C"/>
                  </a:solidFill>
                </a:rPr>
                <a:t>SOS + GPS</a:t>
              </a:r>
            </a:p>
          </p:txBody>
        </p:sp>
        <p:cxnSp>
          <p:nvCxnSpPr>
            <p:cNvPr id="47" name="Connector 46"/>
            <p:cNvCxnSpPr/>
            <p:nvPr/>
          </p:nvCxnSpPr>
          <p:spPr>
            <a:xfrm>
              <a:off x="594360" y="694944"/>
              <a:ext cx="457200" cy="0"/>
            </a:xfrm>
            <a:prstGeom prst="line">
              <a:avLst/>
            </a:prstGeom>
            <a:ln w="27940">
              <a:solidFill>
                <a:srgbClr val="0B4CC2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48" name="TextBox 47"/>
            <p:cNvSpPr txBox="1"/>
            <p:nvPr/>
          </p:nvSpPr>
          <p:spPr>
            <a:xfrm>
              <a:off x="1097280" y="603504"/>
              <a:ext cx="1645920" cy="201168"/>
            </a:xfrm>
            <a:prstGeom prst="rect">
              <a:avLst/>
            </a:prstGeom>
            <a:noFill/>
          </p:spPr>
          <p:txBody>
            <a:bodyPr wrap="none" anchor="ctr">
              <a:spAutoFit/>
            </a:bodyPr>
            <a:lstStyle/>
            <a:p>
              <a:pPr algn="l"/>
              <a:r>
                <a:rPr sz="780" b="0">
                  <a:solidFill>
                    <a:srgbClr val="111827"/>
                  </a:solidFill>
                </a:rPr>
                <a:t>Flujo local crítico</a:t>
              </a:r>
            </a:p>
          </p:txBody>
        </p:sp>
        <p:cxnSp>
          <p:nvCxnSpPr>
            <p:cNvPr id="49" name="Connector 48"/>
            <p:cNvCxnSpPr/>
            <p:nvPr/>
          </p:nvCxnSpPr>
          <p:spPr>
            <a:xfrm>
              <a:off x="2926079" y="694944"/>
              <a:ext cx="457200" cy="0"/>
            </a:xfrm>
            <a:prstGeom prst="line">
              <a:avLst/>
            </a:prstGeom>
            <a:ln w="27940">
              <a:solidFill>
                <a:srgbClr val="64748B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50" name="TextBox 49"/>
            <p:cNvSpPr txBox="1"/>
            <p:nvPr/>
          </p:nvSpPr>
          <p:spPr>
            <a:xfrm>
              <a:off x="3429000" y="603504"/>
              <a:ext cx="1645920" cy="201168"/>
            </a:xfrm>
            <a:prstGeom prst="rect">
              <a:avLst/>
            </a:prstGeom>
            <a:noFill/>
          </p:spPr>
          <p:txBody>
            <a:bodyPr wrap="none" anchor="ctr">
              <a:spAutoFit/>
            </a:bodyPr>
            <a:lstStyle/>
            <a:p>
              <a:pPr algn="l"/>
              <a:r>
                <a:rPr sz="780" b="0">
                  <a:solidFill>
                    <a:srgbClr val="111827"/>
                  </a:solidFill>
                </a:rPr>
                <a:t>Servicios de apoyo</a:t>
              </a:r>
            </a:p>
          </p:txBody>
        </p:sp>
        <p:cxnSp>
          <p:nvCxnSpPr>
            <p:cNvPr id="51" name="Connector 50"/>
            <p:cNvCxnSpPr/>
            <p:nvPr/>
          </p:nvCxnSpPr>
          <p:spPr>
            <a:xfrm>
              <a:off x="5257800" y="694944"/>
              <a:ext cx="457200" cy="0"/>
            </a:xfrm>
            <a:prstGeom prst="line">
              <a:avLst/>
            </a:prstGeom>
            <a:ln w="27940">
              <a:solidFill>
                <a:srgbClr val="B91C1C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52" name="TextBox 51"/>
            <p:cNvSpPr txBox="1"/>
            <p:nvPr/>
          </p:nvSpPr>
          <p:spPr>
            <a:xfrm>
              <a:off x="5760720" y="603504"/>
              <a:ext cx="1645920" cy="201168"/>
            </a:xfrm>
            <a:prstGeom prst="rect">
              <a:avLst/>
            </a:prstGeom>
            <a:noFill/>
          </p:spPr>
          <p:txBody>
            <a:bodyPr wrap="none" anchor="ctr">
              <a:spAutoFit/>
            </a:bodyPr>
            <a:lstStyle/>
            <a:p>
              <a:pPr algn="l"/>
              <a:r>
                <a:rPr sz="780" b="0">
                  <a:solidFill>
                    <a:srgbClr val="111827"/>
                  </a:solidFill>
                </a:rPr>
                <a:t>Emergencia SOS</a:t>
              </a:r>
            </a:p>
          </p:txBody>
        </p:sp>
        <p:sp>
          <p:nvSpPr>
            <p:cNvPr id="53" name="Rounded Rectangle 52"/>
            <p:cNvSpPr/>
            <p:nvPr/>
          </p:nvSpPr>
          <p:spPr>
            <a:xfrm>
              <a:off x="3553182" y="6229557"/>
              <a:ext cx="8138160" cy="438912"/>
            </a:xfrm>
            <a:prstGeom prst="roundRect">
              <a:avLst/>
            </a:prstGeom>
            <a:solidFill>
              <a:srgbClr val="F7FAFF"/>
            </a:solidFill>
            <a:ln w="12700">
              <a:solidFill>
                <a:srgbClr val="0B4CC2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lIns="54864" tIns="36576" rIns="54864" bIns="36576" rtlCol="0" anchor="ctr"/>
            <a:lstStyle/>
            <a:p>
              <a:pPr algn="ctr"/>
              <a:r>
                <a:rPr sz="720" b="1">
                  <a:solidFill>
                    <a:srgbClr val="062A66"/>
                  </a:solidFill>
                </a:rPr>
                <a:t>Regla de diseño</a:t>
              </a:r>
            </a:p>
            <a:p>
              <a:pPr algn="ctr"/>
              <a:r>
                <a:rPr sz="660">
                  <a:solidFill>
                    <a:srgbClr val="111827"/>
                  </a:solidFill>
                </a:rPr>
                <a:t>La decisión crítica se ejecuta localmente; la nube solo apoya almacenamiento, actualización, monitoreo y análisis posterior.</a:t>
              </a:r>
            </a:p>
          </p:txBody>
        </p:sp>
        <p:cxnSp>
          <p:nvCxnSpPr>
            <p:cNvPr id="31" name="Connector 30"/>
            <p:cNvCxnSpPr>
              <a:stCxn id="11" idx="1"/>
              <a:endCxn id="4" idx="3"/>
            </p:cNvCxnSpPr>
            <p:nvPr/>
          </p:nvCxnSpPr>
          <p:spPr>
            <a:xfrm flipH="1" flipV="1">
              <a:off x="2926080" y="3314700"/>
              <a:ext cx="530352" cy="2028169"/>
            </a:xfrm>
            <a:prstGeom prst="line">
              <a:avLst/>
            </a:prstGeom>
            <a:ln w="22860">
              <a:solidFill>
                <a:srgbClr val="0B4CC2"/>
              </a:solidFill>
              <a:headEnd type="none"/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2" name="Rounded Rectangle 31"/>
            <p:cNvSpPr/>
            <p:nvPr/>
          </p:nvSpPr>
          <p:spPr>
            <a:xfrm>
              <a:off x="2752344" y="3490985"/>
              <a:ext cx="777240" cy="320040"/>
            </a:xfrm>
            <a:prstGeom prst="roundRect">
              <a:avLst/>
            </a:prstGeom>
            <a:solidFill>
              <a:srgbClr val="FFFFFF"/>
            </a:solidFill>
            <a:ln>
              <a:solidFill>
                <a:srgbClr val="FFFFFF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sz="720" b="1">
                  <a:solidFill>
                    <a:srgbClr val="0B4CC2"/>
                  </a:solidFill>
                </a:rPr>
                <a:t>audio /
vibración</a:t>
              </a:r>
            </a:p>
          </p:txBody>
        </p:sp>
        <p:cxnSp>
          <p:nvCxnSpPr>
            <p:cNvPr id="84" name="Conector curvado 83"/>
            <p:cNvCxnSpPr>
              <a:stCxn id="10" idx="3"/>
              <a:endCxn id="18" idx="2"/>
            </p:cNvCxnSpPr>
            <p:nvPr/>
          </p:nvCxnSpPr>
          <p:spPr>
            <a:xfrm>
              <a:off x="5907024" y="4188796"/>
              <a:ext cx="4764024" cy="383204"/>
            </a:xfrm>
            <a:prstGeom prst="curvedConnector4">
              <a:avLst>
                <a:gd name="adj1" fmla="val 10178"/>
                <a:gd name="adj2" fmla="val 499507"/>
              </a:avLst>
            </a:prstGeom>
            <a:ln w="27940">
              <a:solidFill>
                <a:srgbClr val="B91C1C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46" name="Rounded Rectangle 45"/>
            <p:cNvSpPr/>
            <p:nvPr/>
          </p:nvSpPr>
          <p:spPr>
            <a:xfrm>
              <a:off x="9787589" y="5180076"/>
              <a:ext cx="1143000" cy="228600"/>
            </a:xfrm>
            <a:prstGeom prst="roundRect">
              <a:avLst/>
            </a:prstGeom>
            <a:solidFill>
              <a:srgbClr val="FFFFFF"/>
            </a:solidFill>
            <a:ln>
              <a:solidFill>
                <a:srgbClr val="FFFFFF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sz="720" b="1">
                  <a:solidFill>
                    <a:srgbClr val="B91C1C"/>
                  </a:solidFill>
                </a:rPr>
                <a:t>ruta prioritaria SOS</a:t>
              </a: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125</TotalTime>
  <Words>174</Words>
  <Application>Microsoft Office PowerPoint</Application>
  <PresentationFormat>Panorámica</PresentationFormat>
  <Paragraphs>54</Paragraphs>
  <Slides>1</Slides>
  <Notes>1</Notes>
  <HiddenSlides>0</HiddenSlides>
  <MMClips>0</MMClips>
  <ScaleCrop>false</ScaleCrop>
  <HeadingPairs>
    <vt:vector size="6" baseType="variant">
      <vt:variant>
        <vt:lpstr>Fuentes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Presentación de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subject/>
  <dc:creator>CRISTOPHER MALAGA ESPINOZA</dc:creator>
  <cp:keywords/>
  <dc:description>generated using python-pptx</dc:description>
  <cp:lastModifiedBy>CRISTOPHER MALAGA ESPINOZA</cp:lastModifiedBy>
  <cp:revision>8</cp:revision>
  <dcterms:created xsi:type="dcterms:W3CDTF">2013-01-27T09:14:16Z</dcterms:created>
  <dcterms:modified xsi:type="dcterms:W3CDTF">2026-06-09T20:05:02Z</dcterms:modified>
  <cp:category/>
</cp:coreProperties>
</file>